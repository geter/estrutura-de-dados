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F5IukUw8K2fubxZE6NNmgIuti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12D9E4-FD49-4546-A9D1-D97E51626C22}">
  <a:tblStyle styleId="{A812D9E4-FD49-4546-A9D1-D97E51626C2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ESTRUTURA DE DADOS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77240" y="26060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4400"/>
              <a:buFont typeface="Consolas"/>
              <a:buNone/>
            </a:pPr>
            <a:r>
              <a:rPr b="1" i="0" lang="en-US" sz="44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Recursão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Uma função que resolve o problema chamando a si mesma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4206240"/>
            <a:ext cx="29260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IFSP Câmpus Campos do Jordão  |  Tecnologia em ADS  |  Prof. Geterson Policarpo Nunes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1  |  CONCEITO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pergunta que </a:t>
            </a:r>
            <a:r>
              <a:rPr b="1" lang="en-US" sz="2200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fechou</a:t>
            </a: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 a aula passada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Existe algum algoritmo de ordenação O(log n)? Não existe, porque ordenar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exige ao menos olhar cada elemento uma vez.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" y="2377440"/>
            <a:ext cx="11155680" cy="1645920"/>
          </a:xfrm>
          <a:prstGeom prst="roundRect">
            <a:avLst>
              <a:gd fmla="val 3333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58952" y="254203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Mas existe algo melhor que O(n²)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58952" y="2980944"/>
            <a:ext cx="10643616" cy="877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melhor possível é O(n log n), e chegar lá exige dividir o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em problemas menores, repetidamente. Essa técnica é a recursão.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02920" y="4297680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busca binária já fazia isso: a cada passo, o problema virava metade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do problema anterior.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Hoje vamos escrever funções que se apoiam nessa ideia.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1  |  CONCEITO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Uma função que chama a si mesma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02920" y="1325880"/>
            <a:ext cx="6675120" cy="2286000"/>
          </a:xfrm>
          <a:prstGeom prst="roundRect">
            <a:avLst>
              <a:gd fmla="val 2000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731520" y="1472184"/>
            <a:ext cx="621792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contagemRegressiva(</a:t>
            </a: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(n == </a:t>
            </a:r>
            <a:r>
              <a:rPr b="0" i="0" lang="en-US" sz="16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&lt;&lt; n &lt;&lt; </a:t>
            </a:r>
            <a:r>
              <a:rPr b="0" i="0" lang="en-US" sz="16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 "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contagemRegressiva(n - </a:t>
            </a:r>
            <a:r>
              <a:rPr b="0" i="0" lang="en-US" sz="16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7452360" y="1325880"/>
            <a:ext cx="4206240" cy="2286000"/>
          </a:xfrm>
          <a:prstGeom prst="roundRect">
            <a:avLst>
              <a:gd fmla="val 240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708392" y="1490472"/>
            <a:ext cx="36941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Duas partes obrigatórias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708392" y="1929384"/>
            <a:ext cx="3694176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caso base, que encerra.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chamada recursiva, que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reduz o problema.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02920" y="3794760"/>
            <a:ext cx="11155680" cy="2103120"/>
          </a:xfrm>
          <a:prstGeom prst="roundRect">
            <a:avLst>
              <a:gd fmla="val 2609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58952" y="395935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Por que ela termina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58952" y="4398264"/>
            <a:ext cx="10643616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Cada chamada recebe um n menor que o anterior. Mais cedo ou mais tarde,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 chega a zero e o caso base interrompe a sequência.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Sem o caso base, as chamadas nunca parariam e o programa travaria.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1  |  CONCEITO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As duas partes, sempre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02920" y="1371600"/>
            <a:ext cx="5486400" cy="2377440"/>
          </a:xfrm>
          <a:prstGeom prst="roundRect">
            <a:avLst>
              <a:gd fmla="val 2308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758952" y="1536192"/>
            <a:ext cx="4974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Caso 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58952" y="1975104"/>
            <a:ext cx="497433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situação mais simples,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que a função resolve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sem chamar a si mesma.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É a condição de parada.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172200" y="1371600"/>
            <a:ext cx="5486400" cy="2377440"/>
          </a:xfrm>
          <a:prstGeom prst="roundRect">
            <a:avLst>
              <a:gd fmla="val 2308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6428232" y="1536192"/>
            <a:ext cx="4974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Caso recursivo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28232" y="1975104"/>
            <a:ext cx="497433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função chama a si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mesma com uma entrada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menor.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É o que reduz o problema.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02920" y="4023360"/>
            <a:ext cx="11155680" cy="1828800"/>
          </a:xfrm>
          <a:prstGeom prst="roundRect">
            <a:avLst>
              <a:gd fmla="val 300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758952" y="418795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 pergunta a se fazer em todo exercício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58952" y="4626864"/>
            <a:ext cx="10643616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Qual é o caso mais simples, que eu sei responder de imediato?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 como transformar o caso maior em um caso menor do mesmo problema?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2  |  PILHA DE CHAMADAS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As chamadas se acumulam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Cada chamada fica em espera até a seguinte terminar. Elas se empilham.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280160" y="1920240"/>
            <a:ext cx="4023360" cy="502920"/>
          </a:xfrm>
          <a:prstGeom prst="roundRect">
            <a:avLst>
              <a:gd fmla="val 9091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280160" y="192024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somaAte(0) devolve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280160" y="2514600"/>
            <a:ext cx="4023360" cy="502920"/>
          </a:xfrm>
          <a:prstGeom prst="roundRect">
            <a:avLst>
              <a:gd fmla="val 9091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280160" y="251460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somaAte(1) espera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280160" y="3108960"/>
            <a:ext cx="4023360" cy="502920"/>
          </a:xfrm>
          <a:prstGeom prst="roundRect">
            <a:avLst>
              <a:gd fmla="val 9091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1280160" y="310896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somaAte(2) espera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280160" y="3703320"/>
            <a:ext cx="4023360" cy="502920"/>
          </a:xfrm>
          <a:prstGeom prst="roundRect">
            <a:avLst>
              <a:gd fmla="val 9091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280160" y="370332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somaAte(3) espera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5"/>
          <p:cNvCxnSpPr/>
          <p:nvPr/>
        </p:nvCxnSpPr>
        <p:spPr>
          <a:xfrm rot="10800000">
            <a:off x="5623560" y="2194560"/>
            <a:ext cx="0" cy="1737360"/>
          </a:xfrm>
          <a:prstGeom prst="straightConnector1">
            <a:avLst/>
          </a:prstGeom>
          <a:noFill/>
          <a:ln cap="flat" cmpd="sng" w="31750">
            <a:solidFill>
              <a:srgbClr val="D8B1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p5"/>
          <p:cNvSpPr/>
          <p:nvPr/>
        </p:nvSpPr>
        <p:spPr>
          <a:xfrm>
            <a:off x="5806440" y="2743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168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empilha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452360" y="1920240"/>
            <a:ext cx="4206240" cy="2651760"/>
          </a:xfrm>
          <a:prstGeom prst="roundRect">
            <a:avLst>
              <a:gd fmla="val 2069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7708392" y="2084832"/>
            <a:ext cx="36941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O caso base é o fundo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708392" y="2523744"/>
            <a:ext cx="3694176" cy="1883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Só quando ele devolve 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valor as outras chamadas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podem terminar.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Elas desempilham na ordem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inversa.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02920" y="4617720"/>
            <a:ext cx="11155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É a mesma pilha que vocês implementaram no encontro 5. O programa mantém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uma pilha de chamadas enquanto executa.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2  |  PILHA DE CHAMADAS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ordem do retorno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02920" y="1280160"/>
            <a:ext cx="5760720" cy="1828800"/>
          </a:xfrm>
          <a:prstGeom prst="roundRect">
            <a:avLst>
              <a:gd fmla="val 2500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31520" y="1426464"/>
            <a:ext cx="530352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somaAte(</a:t>
            </a: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(n == </a:t>
            </a:r>
            <a:r>
              <a:rPr b="0" i="0" lang="en-US" sz="16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 { </a:t>
            </a: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n + somaAte(n - </a:t>
            </a:r>
            <a:r>
              <a:rPr b="0" i="0" lang="en-US" sz="16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537960" y="1280160"/>
            <a:ext cx="5120640" cy="1828800"/>
          </a:xfrm>
          <a:prstGeom prst="roundRect">
            <a:avLst>
              <a:gd fmla="val 2500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766560" y="1426464"/>
            <a:ext cx="466344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somaAte(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+ somaAte(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+ somaAte(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02920" y="3429000"/>
            <a:ext cx="11155680" cy="2377440"/>
          </a:xfrm>
          <a:prstGeom prst="roundRect">
            <a:avLst>
              <a:gd fmla="val 2308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758952" y="359359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O que isso significa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758952" y="4032504"/>
            <a:ext cx="1064361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soma só acontece na volta. Enquanto as chamadas descem, nada é somado,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cada uma apenas guarda o seu n e espera.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Quando o caso base devolve zero, os valores vão sendo somados de volta,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da última chamada até a primeira.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2  |  PILHA DE CHAMADAS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Antes ou depois da chamada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02920" y="1280160"/>
            <a:ext cx="5577840" cy="2103120"/>
          </a:xfrm>
          <a:prstGeom prst="roundRect">
            <a:avLst>
              <a:gd fmla="val 2174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731520" y="1426464"/>
            <a:ext cx="5120640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regressiva(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(n ==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 {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&lt;&lt; n &lt;&lt; </a:t>
            </a:r>
            <a:r>
              <a:rPr b="0" i="0" lang="en-US" sz="15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 "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regressiva(n -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5 4 3 2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355080" y="1280160"/>
            <a:ext cx="5303520" cy="2103120"/>
          </a:xfrm>
          <a:prstGeom prst="roundRect">
            <a:avLst>
              <a:gd fmla="val 2174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583680" y="1426464"/>
            <a:ext cx="4846320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crescente(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(n ==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 {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crescente(n -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&lt;&lt; n &lt;&lt; </a:t>
            </a:r>
            <a:r>
              <a:rPr b="0" i="0" lang="en-US" sz="15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 "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1 2 3 4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02920" y="3703320"/>
            <a:ext cx="11155680" cy="2103120"/>
          </a:xfrm>
          <a:prstGeom prst="roundRect">
            <a:avLst>
              <a:gd fmla="val 2609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758952" y="386791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 única diferença é a ordem das duas linhas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58952" y="4306824"/>
            <a:ext cx="10643616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Imprimindo antes da chamada, o valor sai na ida, enquanto a pilha cresce.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Imprimindo depois, o valor sai na volta, enquanto a pilha se desfaz,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 por isso a ordem aparece invertida.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3  |  CONSTRUINDO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Do problema à função recursiva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Somar todos os números de 1 até n. Como reduzir isso a um problema menor?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502920" y="1874520"/>
            <a:ext cx="11155680" cy="1508760"/>
          </a:xfrm>
          <a:prstGeom prst="roundRect">
            <a:avLst>
              <a:gd fmla="val 3636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758952" y="203911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 observação que resolve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758952" y="2478024"/>
            <a:ext cx="10643616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soma de 1 até 5 é 5 mais a soma de 1 até 4.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Ou seja, somaAte(n) é n mais somaAte(n - 1).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02920" y="3520440"/>
            <a:ext cx="6675120" cy="2103120"/>
          </a:xfrm>
          <a:prstGeom prst="roundRect">
            <a:avLst>
              <a:gd fmla="val 2174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731520" y="3666744"/>
            <a:ext cx="6217920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somaAte(</a:t>
            </a: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(n == </a:t>
            </a:r>
            <a:r>
              <a:rPr b="0" i="0" lang="en-US" sz="16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6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6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n + somaAte(n - </a:t>
            </a:r>
            <a:r>
              <a:rPr b="0" i="0" lang="en-US" sz="16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452360" y="3520440"/>
            <a:ext cx="4206240" cy="2286000"/>
          </a:xfrm>
          <a:prstGeom prst="roundRect">
            <a:avLst>
              <a:gd fmla="val 240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708392" y="3685032"/>
            <a:ext cx="36941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O caso 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7708392" y="4123944"/>
            <a:ext cx="3694176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soma de 1 até 0 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zero.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É o caso que se sabe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responder sem pensar.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3  |  CONSTRUINDO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mesmo raciocínio em um vetor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soma de um vetor é o último elemento mais a soma do resto.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02920" y="1920240"/>
            <a:ext cx="7040880" cy="2606040"/>
          </a:xfrm>
          <a:prstGeom prst="roundRect">
            <a:avLst>
              <a:gd fmla="val 1754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731520" y="2066544"/>
            <a:ext cx="6583680" cy="2313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somaVetor(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itens[],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quantidade)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(quantidade ==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itens[quantidade -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    + somaVetor(itens, quantidade -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7726680" y="1920240"/>
            <a:ext cx="3931920" cy="2606040"/>
          </a:xfrm>
          <a:prstGeom prst="roundRect">
            <a:avLst>
              <a:gd fmla="val 2105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7982712" y="2084832"/>
            <a:ext cx="34198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 redução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7982712" y="2523744"/>
            <a:ext cx="3419856" cy="183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cada chamada, 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vetor considerado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diminui em um.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Quando chega a zero,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não há o que somar.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02920" y="4754880"/>
            <a:ext cx="11155680" cy="1463040"/>
          </a:xfrm>
          <a:prstGeom prst="roundRect">
            <a:avLst>
              <a:gd fmla="val 375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758952" y="491947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O padrão se repete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758952" y="5358384"/>
            <a:ext cx="1064361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Resolver o caso menor e combinar o resultado com o elemento atual.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Quase todos os exercícios de hoje seguem essa forma.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4  |  COMPARAÇÃO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mesmo problema das duas formas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02920" y="1280160"/>
            <a:ext cx="5577840" cy="2377440"/>
          </a:xfrm>
          <a:prstGeom prst="roundRect">
            <a:avLst>
              <a:gd fmla="val 1923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731520" y="1426464"/>
            <a:ext cx="5120640" cy="208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iterativa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somaAte(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total =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i =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 i &lt;= n; i++)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   total = total + i;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total;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355080" y="1280160"/>
            <a:ext cx="5303520" cy="2377440"/>
          </a:xfrm>
          <a:prstGeom prst="roundRect">
            <a:avLst>
              <a:gd fmla="val 1923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6583680" y="1426464"/>
            <a:ext cx="4846320" cy="208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recursiva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somaAte(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n)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(n ==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n + somaAte(n - 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02920" y="3931920"/>
            <a:ext cx="5486400" cy="2011680"/>
          </a:xfrm>
          <a:prstGeom prst="roundRect">
            <a:avLst>
              <a:gd fmla="val 2727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758952" y="4096512"/>
            <a:ext cx="4974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Iterativa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758952" y="4535424"/>
            <a:ext cx="4974336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Usa menos memória.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Nenhuma chamada fica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empilhada.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172200" y="3931920"/>
            <a:ext cx="5486400" cy="2011680"/>
          </a:xfrm>
          <a:prstGeom prst="roundRect">
            <a:avLst>
              <a:gd fmla="val 2727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6428232" y="4096512"/>
            <a:ext cx="4974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Recursiva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428232" y="4535424"/>
            <a:ext cx="4974336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Mais curta quando 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problema se divide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naturalmente, como nas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árvores e no Merge Sort.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5  |  A PONTE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Busca binária, agora recursiva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busca binária que vocês escreveram com while também pode ser recursiva.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502920" y="1828800"/>
            <a:ext cx="7498080" cy="3749040"/>
          </a:xfrm>
          <a:prstGeom prst="roundRect">
            <a:avLst>
              <a:gd fmla="val 1220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731520" y="1975104"/>
            <a:ext cx="704088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buscaBinaria(</a:t>
            </a: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itens[], </a:t>
            </a: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inicio,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fim, </a:t>
            </a: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procurado) 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(inicio &gt; fim) { </a:t>
            </a: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-</a:t>
            </a:r>
            <a:r>
              <a:rPr b="0" i="0" lang="en-US" sz="13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 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meio = (inicio + fim) / </a:t>
            </a:r>
            <a:r>
              <a:rPr b="0" i="0" lang="en-US" sz="13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(itens[meio] == procurado) { </a:t>
            </a: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meio; 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(itens[meio] &lt; procurado) 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buscaBinaria(itens, meio + </a:t>
            </a:r>
            <a:r>
              <a:rPr b="0" i="0" lang="en-US" sz="13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fim, procurado);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buscaBinaria(itens, inicio,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meio - </a:t>
            </a:r>
            <a:r>
              <a:rPr b="0" i="0" lang="en-US" sz="13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, procurado);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8138160" y="1828800"/>
            <a:ext cx="3520440" cy="3749040"/>
          </a:xfrm>
          <a:prstGeom prst="roundRect">
            <a:avLst>
              <a:gd fmla="val 1558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8394192" y="1993392"/>
            <a:ext cx="3008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Compare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8394192" y="2432304"/>
            <a:ext cx="3008376" cy="2980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while virou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chamada recursiva.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inicio e fim, que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eram atualizados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dentro do laço,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agora viram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parâmetros 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chamada seguinte.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5  |  A PONTE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Para onde isso leva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busca binária divide o problema ao meio e resolve apenas uma das metades.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 se um algoritmo dividisse ao meio e resolvesse as duas?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02920" y="2468880"/>
            <a:ext cx="11155680" cy="1737360"/>
          </a:xfrm>
          <a:prstGeom prst="roundRect">
            <a:avLst>
              <a:gd fmla="val 3158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758952" y="263347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É essa a ideia do Merge Sort e do Quick Sort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758952" y="3072384"/>
            <a:ext cx="10643616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Dividir o vetor ao meio, ordenar cada metade, e combinar o resultado.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Esse caminho leva ao O(n log n) que faltava na pergunta da aula passada.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502920" y="448056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Assunto da próxima aula.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6  |  PRÁTICA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lista de exercícios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502920" y="1280160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São 14 exercícios no repositório, em ordem crescente de dificuldade.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apoio nos comentários vai diminuindo ao longo da lista.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p13"/>
          <p:cNvGraphicFramePr/>
          <p:nvPr/>
        </p:nvGraphicFramePr>
        <p:xfrm>
          <a:off x="50292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{A812D9E4-FD49-4546-A9D1-D97E51626C22}</a:tableStyleId>
              </a:tblPr>
              <a:tblGrid>
                <a:gridCol w="1828800"/>
                <a:gridCol w="9326875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5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2C3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a 5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Contagem regressiva, contagem crescente, soma até n, fatorial, potência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5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2C3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 a 10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 do vetor, maior elemento, contar ocorrências, inverter string, palíndromo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5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2C3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 a 14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Fibonacci, busca binária recursiva, MDC, Torres de Hanói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13"/>
          <p:cNvSpPr/>
          <p:nvPr/>
        </p:nvSpPr>
        <p:spPr>
          <a:xfrm>
            <a:off x="502920" y="4617720"/>
            <a:ext cx="11155680" cy="1463040"/>
          </a:xfrm>
          <a:prstGeom prst="roundRect">
            <a:avLst>
              <a:gd fmla="val 375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758952" y="478231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Entrega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758952" y="5221224"/>
            <a:ext cx="1064361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código vai para o repositório de entregas, por pull request.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lista também deve ser copiada à mão e entregue em sala.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7  |  ENTREGA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Como entregar por pull request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640080" y="137160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640080" y="13716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1463040" y="1371600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Fazer um fork do repositório de entregas para a sua conta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640080" y="224028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640080" y="22402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1463040" y="2240280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Clonar o seu fork para o computador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640080" y="310896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640080" y="31089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1463040" y="3108960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Criar uma pasta com o seu nome e colocar os arquivos dentro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640080" y="397764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640080" y="39776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1463040" y="3977640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Fazer commit e enviar para o seu fork com push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640080" y="484632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640080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1463040" y="4846320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Abrir o pull request do seu fork para o repositório da disciplina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Os comandos estão no arquivo GUIA_PULL_REQUEST.md do repositório de entregas.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FECHAMENTO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que fica desta aula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502920" y="1371600"/>
            <a:ext cx="11155680" cy="4480560"/>
          </a:xfrm>
          <a:prstGeom prst="roundRect">
            <a:avLst>
              <a:gd fmla="val 1224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758952" y="1536192"/>
            <a:ext cx="10643616" cy="4151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Uma função recursiva chama a si mesma com uma entrada menor.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Ela precisa de duas partes: o caso base, que encerra, e o caso recursivo,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que reduz o problema. Sem caso base, as chamadas nunca param.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As chamadas se acumulam em uma pilha e só terminam na ordem inversa,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depois que o caso base devolve um valor.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Imprimir antes da chamada mostra o valor na ida. Depois da chamada,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mostra na volta, com a ordem invertida.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Na próxima aula, Merge Sort e Quick Sort.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2026-08-29T01:02:31Z</dcterms:created>
  <dc:creator>Geterson Policarpo Nunes</dc:creator>
</cp:coreProperties>
</file>