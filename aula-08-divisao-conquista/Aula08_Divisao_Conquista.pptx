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ESTRUTURA DE DADOS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Dividir para Conquistar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Recursão aplicada, Merge Sort e Quick Sort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9260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IFSP Câmpus Campos do Jordão  |  Tecnologia em ADS  |  Prof. Geterson Policarpo Nunes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1  |  RETOMADA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duas perguntas de toda recursão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27632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 é o caso base?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066544"/>
            <a:ext cx="49743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situação mais simples,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 se responde sem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chamar a função de novo.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627632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reduzir o problema?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28232" y="2066544"/>
            <a:ext cx="49743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muda na chamada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seguinte para chegar mais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perto do caso base.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3840480"/>
            <a:ext cx="11155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 exercícios de hoje o que reduz muda de um para outro: às vezes é a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quantidade, às vezes é o tamanho da string, às vezes é o trecho considerado.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padrão continua o mesmo: resolver o menor e combinar com o atual.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1  |  EXERCÍCIO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Maior elemento de um vetor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maior do vetor é o maior entre o último elemento e o maior do resto.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093976" y="187452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93976" y="1874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73552" y="187452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874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53128" y="187452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3128" y="1874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632704" y="187452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2704" y="1874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812280" y="187452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1E1F26"/>
          </a:solidFill>
          <a:ln w="19050">
            <a:solidFill>
              <a:srgbClr val="D8B1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874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B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26060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 42 com o maior de {4, 8, 15, 16, 23}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301752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017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2093976" y="301752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93976" y="3017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273552" y="301752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3552" y="3017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453128" y="301752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53128" y="3017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632704" y="301752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1E1F26"/>
          </a:solidFill>
          <a:ln w="19050">
            <a:solidFill>
              <a:srgbClr val="D8B1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32704" y="3017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B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14400" y="37490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 23 com o maior de {4, 8, 15, 16}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14400" y="416052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160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14400" y="48920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sobrou um elemento, o maior é ele mesmo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275320" y="1874520"/>
            <a:ext cx="3383280" cy="2834640"/>
          </a:xfrm>
          <a:prstGeom prst="roundRect">
            <a:avLst>
              <a:gd name="adj" fmla="val 1935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31352" y="2039112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Atenção ao caso base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531352" y="2478024"/>
            <a:ext cx="28712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Aqui ele para em UM,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não em zero.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maior de um vetor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vazio não existe.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1  |  EXERCÍCIO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Contar ocorrências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Contar quantas vezes o 3 aparece em {3, 7, 3, 1, 3, 9, 7, 3}.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6675120" cy="2103120"/>
          </a:xfrm>
          <a:prstGeom prst="roundRect">
            <a:avLst>
              <a:gd name="adj" fmla="val 2174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20824"/>
            <a:ext cx="62179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resto = contarOcorrencias(itens,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quantidade -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procurado);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(itens[quantidade -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procurado) {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resto +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resto;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52360" y="1874520"/>
            <a:ext cx="4206240" cy="2377440"/>
          </a:xfrm>
          <a:prstGeom prst="roundRect">
            <a:avLst>
              <a:gd name="adj" fmla="val 2308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08392" y="203911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diferença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08392" y="2478024"/>
            <a:ext cx="369417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resultado da chamada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 guardado antes de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decidir o que devolver.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Só então soma-se um.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4251960"/>
            <a:ext cx="11155680" cy="1645920"/>
          </a:xfrm>
          <a:prstGeom prst="roundRect">
            <a:avLst>
              <a:gd name="adj" fmla="val 3333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441655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a função pergunta a cada chamada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855464"/>
            <a:ext cx="106436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Quantas vezes o valor aparece no resto do vetor? A partir dessa resposta,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basta olhar o último elemento e decidir se soma um ou não.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2  |  EXERCÍCIO 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Inverter uma string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Inverter "casa" é inverter "asa" e colocar o 'c' no fim.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ida, a string encolhe: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94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48840" y="2441448"/>
            <a:ext cx="182880" cy="0"/>
          </a:xfrm>
          <a:prstGeom prst="line">
            <a:avLst/>
          </a:prstGeom>
          <a:noFill/>
          <a:ln w="25400">
            <a:solidFill>
              <a:srgbClr val="9BA1A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31720" y="219456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194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441448"/>
            <a:ext cx="182880" cy="0"/>
          </a:xfrm>
          <a:prstGeom prst="line">
            <a:avLst/>
          </a:prstGeom>
          <a:noFill/>
          <a:ln w="25400">
            <a:solidFill>
              <a:srgbClr val="9BA1A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49040" y="219456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194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83480" y="2441448"/>
            <a:ext cx="182880" cy="0"/>
          </a:xfrm>
          <a:prstGeom prst="line">
            <a:avLst/>
          </a:prstGeom>
          <a:noFill/>
          <a:ln w="25400">
            <a:solidFill>
              <a:srgbClr val="9BA1A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66360" y="219456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194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3017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B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volta, o resultado se monta: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338328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468880" y="3630168"/>
            <a:ext cx="182880" cy="0"/>
          </a:xfrm>
          <a:prstGeom prst="line">
            <a:avLst/>
          </a:prstGeom>
          <a:noFill/>
          <a:ln w="25400">
            <a:solidFill>
              <a:srgbClr val="D8B16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651760" y="338328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"as"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206240" y="3630168"/>
            <a:ext cx="182880" cy="0"/>
          </a:xfrm>
          <a:prstGeom prst="line">
            <a:avLst/>
          </a:prstGeom>
          <a:noFill/>
          <a:ln w="25400">
            <a:solidFill>
              <a:srgbClr val="D8B16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89120" y="338328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"asa"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943600" y="3630168"/>
            <a:ext cx="182880" cy="0"/>
          </a:xfrm>
          <a:prstGeom prst="line">
            <a:avLst/>
          </a:prstGeom>
          <a:noFill/>
          <a:ln w="25400">
            <a:solidFill>
              <a:srgbClr val="D8B16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126480" y="338328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"asac"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02920" y="4251960"/>
            <a:ext cx="11155680" cy="1645920"/>
          </a:xfrm>
          <a:prstGeom prst="roundRect">
            <a:avLst>
              <a:gd name="adj" fmla="val 3333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441655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Aqui a ordem importa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58952" y="4855464"/>
            <a:ext cx="106436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 soma o resultado seria o mesmo de qualquer jeito. Com texto não: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caractere entra depois da chamada, então ele vai parar no fim da string.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2  |  EXERCÍCIO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Palíndromo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 as duas pontas e, se forem iguais, verifica o miolo.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 a r 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97680" y="2057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 a com a, iguais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788920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a 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97680" y="2926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 r com r, iguais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657600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57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97680" y="3794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sobrou um caractere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709160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87375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Dois casos base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8952" y="5312664"/>
            <a:ext cx="106436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de até um caractere é sempre palíndromo, devolve true.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Pontas diferentes encerram na hora, devolvendo false.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3  |  EXERCÍCIO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 binária recursiva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while virou chamada recursiva, e os índices viraram parâmetros.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7040880" cy="3017520"/>
          </a:xfrm>
          <a:prstGeom prst="roundRect">
            <a:avLst>
              <a:gd name="adj" fmla="val 1515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75104"/>
            <a:ext cx="658368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(inicio &gt; fim) {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meio = (inicio + fim) /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(itens[meio] == procurado) {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meio; }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(itens[meio] &lt; procurado) {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busca(itens, meio +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fim, procurado);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busca(itens, inicio, meio -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procurado);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1828800"/>
            <a:ext cx="3886200" cy="3017520"/>
          </a:xfrm>
          <a:prstGeom prst="roundRect">
            <a:avLst>
              <a:gd name="adj" fmla="val 1818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8432" y="1993392"/>
            <a:ext cx="3374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 escolha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28432" y="2432304"/>
            <a:ext cx="337413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outras recursões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sempre faziam a mesma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chamada.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Aqui a função escolhe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 duas, conforme 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comparação.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4937760"/>
            <a:ext cx="11155680" cy="1463040"/>
          </a:xfrm>
          <a:prstGeom prst="roundRect">
            <a:avLst>
              <a:gd name="adj" fmla="val 3750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510235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5541264"/>
            <a:ext cx="106436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 divide ao meio e resolve apenas UMA das metades.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se precisássemos das duas?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4  |  MERGE SORT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Dividir até sobrar um elemento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vetor de um elemento já está ordenado. Então dividimos até chegar lá,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depois juntamos os pedaços de volta, sempre em ordem.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3401568" cy="530352"/>
          </a:xfrm>
          <a:prstGeom prst="roundRect">
            <a:avLst>
              <a:gd name="adj" fmla="val 862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86000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38 27 43 9 82 10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035808"/>
            <a:ext cx="1700784" cy="530352"/>
          </a:xfrm>
          <a:prstGeom prst="roundRect">
            <a:avLst>
              <a:gd name="adj" fmla="val 862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35808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38 27 43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89504" y="3035808"/>
            <a:ext cx="1700784" cy="530352"/>
          </a:xfrm>
          <a:prstGeom prst="roundRect">
            <a:avLst>
              <a:gd name="adj" fmla="val 862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9504" y="3035808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9 82 10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3785616"/>
            <a:ext cx="1133856" cy="530352"/>
          </a:xfrm>
          <a:prstGeom prst="roundRect">
            <a:avLst>
              <a:gd name="adj" fmla="val 862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85616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38 27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22576" y="3785616"/>
            <a:ext cx="566928" cy="530352"/>
          </a:xfrm>
          <a:prstGeom prst="roundRect">
            <a:avLst>
              <a:gd name="adj" fmla="val 862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22576" y="378561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163824" y="3785616"/>
            <a:ext cx="1133856" cy="530352"/>
          </a:xfrm>
          <a:prstGeom prst="roundRect">
            <a:avLst>
              <a:gd name="adj" fmla="val 862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63824" y="3785616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9 82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3785616"/>
            <a:ext cx="566928" cy="530352"/>
          </a:xfrm>
          <a:prstGeom prst="roundRect">
            <a:avLst>
              <a:gd name="adj" fmla="val 862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78561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4535424"/>
            <a:ext cx="566928" cy="530352"/>
          </a:xfrm>
          <a:prstGeom prst="roundRect">
            <a:avLst>
              <a:gd name="adj" fmla="val 8621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535424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755648" y="4535424"/>
            <a:ext cx="566928" cy="530352"/>
          </a:xfrm>
          <a:prstGeom prst="roundRect">
            <a:avLst>
              <a:gd name="adj" fmla="val 8621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55648" y="4535424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596896" y="4535424"/>
            <a:ext cx="566928" cy="530352"/>
          </a:xfrm>
          <a:prstGeom prst="roundRect">
            <a:avLst>
              <a:gd name="adj" fmla="val 8621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96896" y="4535424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438144" y="4535424"/>
            <a:ext cx="566928" cy="530352"/>
          </a:xfrm>
          <a:prstGeom prst="roundRect">
            <a:avLst>
              <a:gd name="adj" fmla="val 8621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8144" y="4535424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279392" y="4535424"/>
            <a:ext cx="566928" cy="530352"/>
          </a:xfrm>
          <a:prstGeom prst="roundRect">
            <a:avLst>
              <a:gd name="adj" fmla="val 8621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9392" y="4535424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120640" y="4535424"/>
            <a:ext cx="566928" cy="530352"/>
          </a:xfrm>
          <a:prstGeom prst="roundRect">
            <a:avLst>
              <a:gd name="adj" fmla="val 8621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4535424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229600" y="228600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2450592"/>
            <a:ext cx="2916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divisão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485632" y="2889504"/>
            <a:ext cx="291693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cada nível, cada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trecho vira dois.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depois desfazer,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juntando em ordem.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4  |  MERGE SORT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merge, juntar dois trechos ordenados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Dois trechos JÁ ordenados, com um marcador em cada. O menor sai primeiro.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27 38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40280" y="19202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9 43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2057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 27 e 9, sai o 9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611880" cy="548640"/>
          </a:xfrm>
          <a:prstGeom prst="roundRect">
            <a:avLst>
              <a:gd name="adj" fmla="val 833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9202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27 38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40280" y="26974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834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 27 e 43, sai o 27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2697480"/>
            <a:ext cx="3611880" cy="548640"/>
          </a:xfrm>
          <a:prstGeom prst="roundRect">
            <a:avLst>
              <a:gd name="adj" fmla="val 833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6974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9 27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47472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74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40280" y="347472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3474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86200" y="3611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 38 e 43, sai o 38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6720" y="3474720"/>
            <a:ext cx="3611880" cy="548640"/>
          </a:xfrm>
          <a:prstGeom prst="roundRect">
            <a:avLst>
              <a:gd name="adj" fmla="val 833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34747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9 27 38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425196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251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vazio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240280" y="425196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4251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86200" y="4389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trecho acabou, o resto vai direto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46720" y="4251960"/>
            <a:ext cx="3611880" cy="548640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42519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9 27 38 43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" y="5120640"/>
            <a:ext cx="11155680" cy="1143000"/>
          </a:xfrm>
          <a:prstGeom prst="roundRect">
            <a:avLst>
              <a:gd name="adj" fmla="val 4800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528523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merge não ordena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58952" y="5724144"/>
            <a:ext cx="10643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 apenas intercala duas partes que já estavam ordenadas.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4  |  MERGE SORT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merge no código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7406640" cy="4023360"/>
          </a:xfrm>
          <a:prstGeom prst="roundRect">
            <a:avLst>
              <a:gd name="adj" fmla="val 1136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26464"/>
            <a:ext cx="694944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esquerda = inicio;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direita = meio +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posicao = inicio;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(esquerda &lt;= meio &amp;&amp; direita &lt;= fim) {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(itens[esquerda] &lt;= itens[direita]) {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auxiliar[posicao] = itens[esquerda];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esquerda = esquerda +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auxiliar[posicao] = itens[direita];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direita = direita +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posicao = posicao +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83880" y="1280160"/>
            <a:ext cx="3474720" cy="4023360"/>
          </a:xfrm>
          <a:prstGeom prst="roundRect">
            <a:avLst>
              <a:gd name="adj" fmla="val 1579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39912" y="1444752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Três marcadores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39912" y="1883664"/>
            <a:ext cx="2962656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esquerda e direita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caminham nos dois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trechos.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posicao caminha no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vetor auxiliar.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Só avança o marcador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quem saiu.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54864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Depois deste laço, dois laços menores copiam o que sobrou do trecho que não acabou.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4  |  EXERCÍCIO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Escrever o mergeSort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55680" cy="3200400"/>
          </a:xfrm>
          <a:prstGeom prst="roundRect">
            <a:avLst>
              <a:gd name="adj" fmla="val 1714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2763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repositório, arquivo exercicio1_merge_sort.cpp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066544"/>
            <a:ext cx="1064361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função merge já está pronta no arquivo. Escreva a função mergeSort,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 divide o vetor e usa o merge para juntar os pedaços de volta.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itens[6] = {38, 27, 43, 9, 82, 10};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mergeSort(itens, 0, 5);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493776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Saída esperada: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9 10 27 38 43 82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5  |  QUICK SORT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Escolher um pivô e separar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 vez de dividir sempre ao meio, escolhe-se um valor como pivô e o vetor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 separado em dois lados: os menores e os maiores que ele.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002536" y="228600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02536" y="22860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182112" y="228600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22860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361688" y="228600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22860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541264" y="228600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1264" y="22860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20840" y="228600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1E1F26"/>
          </a:solidFill>
          <a:ln w="19050">
            <a:solidFill>
              <a:srgbClr val="D8B1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2860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B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B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último elemento é escolhido como pivô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0" y="3520440"/>
            <a:ext cx="0" cy="41148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2960" y="406908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690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2002536" y="406908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02536" y="40690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182112" y="406908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40690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361688" y="406908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61688" y="40690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541264" y="406908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41264" y="40690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720840" y="406908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40690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22960" y="4892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menores à esquerda, maiores à direita, e o pivô no lugar dele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138160" y="228600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94192" y="2450592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ganho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394192" y="2889504"/>
            <a:ext cx="30083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pivô já está na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posição final.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 não entra nas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chamadas seguintes.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5  |  QUICK SORT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particionar, passo a passo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Pivô 6. Um limite marca até onde vão os menores. Ele só avança quando acha um.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7 2 9 4 3 6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43400" y="19933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&gt; 6, nada muda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532888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328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2 7 9 4 3 6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26517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&lt;= 6, entra para os menores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191256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912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2 7 9 4 3 6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43400" y="3310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&gt; 6, nada muda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3849624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496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2 4 9 7 3 6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396849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&lt;= 6, entra para os menores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507992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1E1F26"/>
          </a:solidFill>
          <a:ln w="19050">
            <a:solidFill>
              <a:srgbClr val="2A2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5079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2 4 3 7 9 6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43400" y="462686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&lt;= 6, entra para os menores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5166360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166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2 4 3 6 9 7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43400" y="52852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troca final, o pivô vai para o lugar dele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5  |  QUICK SORT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particionar no código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7406640" cy="3291840"/>
          </a:xfrm>
          <a:prstGeom prst="roundRect">
            <a:avLst>
              <a:gd name="adj" fmla="val 1389"/>
            </a:avLst>
          </a:prstGeom>
          <a:solidFill>
            <a:srgbClr val="0C0D12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26464"/>
            <a:ext cx="69494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pivo = itens[fim];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limite = inicio -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inicio; i &lt; fim; i++) {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(itens[i] &lt;= pivo) {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limite = limite +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(itens[limite], itens[i]);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(itens[limite +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itens[fim]);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limite +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9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83880" y="1280160"/>
            <a:ext cx="3474720" cy="3291840"/>
          </a:xfrm>
          <a:prstGeom prst="roundRect">
            <a:avLst>
              <a:gd name="adj" fmla="val 1667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39912" y="1444752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retorno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39912" y="1883664"/>
            <a:ext cx="296265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função devolve 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posição onde o pivô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ficou.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 essa posição que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 as duas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chamadas seguintes.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laço percorre até fim menos um, porque a última posição é o próprio pivô.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troca depois do laço coloca o pivô entre os menores e os maiores.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5  |  EXERCÍCIO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Escrever o quickSort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55680" cy="3200400"/>
          </a:xfrm>
          <a:prstGeom prst="roundRect">
            <a:avLst>
              <a:gd name="adj" fmla="val 1714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2763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repositório, arquivo exercicio2_quick_sort.cpp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066544"/>
            <a:ext cx="1064361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função particionar já está pronta no arquivo. Escreva a função quickSort,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 usa a posição devolvida por ela para ordenar os dois lados.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itens[6] = {38, 27, 43, 9, 82, 10};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quickSort(itens, 0, 5);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493776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Saída esperada: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9 10 27 38 43 82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6  |  CUSTO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que O(n log 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Dividir ao meio repetidamente cria poucos níveis, e cada nível custa 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039112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Quantos níveis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952" y="2478024"/>
            <a:ext cx="497433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Dividir 8 ao meio dá 4,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depois 2, depois 1.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São log n níveis.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2039112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de cada nível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8232" y="2478024"/>
            <a:ext cx="497433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 cada nível, todos os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elementos passam pela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junção ou pela separação.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nível custa 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4526280"/>
            <a:ext cx="11155680" cy="1691640"/>
          </a:xfrm>
          <a:prstGeom prst="roundRect">
            <a:avLst>
              <a:gd name="adj" fmla="val 3243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4690872"/>
            <a:ext cx="10643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elementos vezes log n níveis, ou seja O(n log n)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8952" y="5129784"/>
            <a:ext cx="106436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Comparado ao O(n²) dos três algoritmos da aula passada, a diferença cresce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rápido: para mil elementos são cerca de dez mil passos em vez de um milhão.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6  |  CUSTO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Respondendo a pergunta do encontro 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55680" cy="1554480"/>
          </a:xfrm>
          <a:prstGeom prst="roundRect">
            <a:avLst>
              <a:gd name="adj" fmla="val 3529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36192"/>
            <a:ext cx="1064361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Existe algum algoritmo de ordenação O(log n)?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11155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Não existe. Para ordenar, é preciso ao menos olhar cada elemento uma vez,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já custa n. Um algoritmo O(log n) sequer leria o vetor inteiro.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melhor possível na ordenação por comparação é O(n log n), que é onde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estão o Merge Sort e o Quick Sort.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Foi a recursão que permitiu chegar lá, dividindo o problema ao meio.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FECHAMENTO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fica desta aula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BA1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55680" cy="4480560"/>
          </a:xfrm>
          <a:prstGeom prst="roundRect">
            <a:avLst>
              <a:gd name="adj" fmla="val 1224"/>
            </a:avLst>
          </a:prstGeom>
          <a:solidFill>
            <a:srgbClr val="1E1F26"/>
          </a:solidFill>
          <a:ln w="12700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36192"/>
            <a:ext cx="10643616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reduz o problema muda de exercício para exercício: a quantidade,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tamanho da string, o trecho considerado. O padrão continua o mesmo.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busca binária divide ao meio e resolve uma das metades.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Merge Sort divide ao meio e resolve as duas, depois junta.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merge não ordena, ele intercala dois trechos que já estavam ordenados.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Quick Sort separa por um pivô, que já fica na posição final dele.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dois custam O(n log n), contra O(n²) dos algoritmos da aula passada.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 próxima aula, tabelas hash.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Geterson Policarpo Nunes</dc:creator>
  <cp:lastModifiedBy>Geterson Policarpo Nunes</cp:lastModifiedBy>
  <cp:revision>1</cp:revision>
  <dcterms:created xsi:type="dcterms:W3CDTF">2026-09-11T03:12:57Z</dcterms:created>
  <dcterms:modified xsi:type="dcterms:W3CDTF">2026-09-11T03:12:57Z</dcterms:modified>
</cp:coreProperties>
</file>