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jB9VvO2Ir3X3Tajuhb8KEhr9cS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279255-42EB-42B6-9D83-893E06B66457}">
  <a:tblStyle styleId="{34279255-42EB-42B6-9D83-893E06B6645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5" name="Google Shape;64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ESTRUTURA DE DADOS  |  CAPÍTULO 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77240" y="26060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4400"/>
              <a:buFont typeface="Consolas"/>
              <a:buNone/>
            </a:pPr>
            <a:r>
              <a:rPr b="1" i="0" lang="en-US" sz="44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Tabelas Hash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A posição é calculada, não percorrida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4206240"/>
            <a:ext cx="29260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IFSP Câmpus Campos do Jordão  |  Tecnologia em ADS  |  Prof. Geterson Policarpo Nunes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PERGUNTA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Existe um algoritmo O(1)?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22960" y="1554480"/>
            <a:ext cx="914400" cy="914400"/>
          </a:xfrm>
          <a:prstGeom prst="roundRect">
            <a:avLst>
              <a:gd fmla="val 8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011680" y="16002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Vocês já usaram algoritmos de busca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 complexidade O(n) e O(log n).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Existe um algoritmo com complexidade O(1)?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22960" y="4114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Tempo constante, independente do tamanho dos dados.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RESPOSTA 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Sim. A tabela hash.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02920" y="1463040"/>
            <a:ext cx="11155680" cy="2194560"/>
          </a:xfrm>
          <a:prstGeom prst="roundRect">
            <a:avLst>
              <a:gd fmla="val 25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que significa O(1)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58952" y="2066544"/>
            <a:ext cx="1064361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tabela hash acessa qualquer elemento em tempo constante, O(1) na média.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 importa se ela tem dez elementos ou dez milhões: o número de passos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para chegar a um deles é o mesmo.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02920" y="3931920"/>
            <a:ext cx="11155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O(1) não significa instantâneo. Significa que o tempo não cresce quando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os dados crescem.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posição não é procurada, ela é calculada.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PERGUNTA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Como o Google busca em bilhões de páginas?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22960" y="1554480"/>
            <a:ext cx="914400" cy="914400"/>
          </a:xfrm>
          <a:prstGeom prst="roundRect">
            <a:avLst>
              <a:gd fmla="val 8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011680" y="16002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Como o Google encontra um resultado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em bilhões de páginas em milissegundos?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22960" y="4114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Uma busca O(log n) em um índice de bilhões de registros ainda seria lenta demais.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RESPOSTA 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 estruturas baseadas em hash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2920" y="1463040"/>
            <a:ext cx="11155680" cy="2194560"/>
          </a:xfrm>
          <a:prstGeom prst="roundRect">
            <a:avLst>
              <a:gd fmla="val 25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índice invertido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758952" y="2066544"/>
            <a:ext cx="1064361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Google mantém uma tabela enorme que associa cada palavra a uma lista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 páginas. Ao pesquisar, ele não percorre a internet: ele calcula onde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palavra está guardada e vai direto.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02920" y="393192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parece mágica é matemática. A posição é calculada, não percorrida.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PERGUNTA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sistema guarda a sua senha?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822960" y="1554480"/>
            <a:ext cx="914400" cy="914400"/>
          </a:xfrm>
          <a:prstGeom prst="roundRect">
            <a:avLst>
              <a:gd fmla="val 8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011680" y="16002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Quando você cria uma senha,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sistema guarda a sua senha?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22960" y="4114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Por que nenhum site consegue dizer qual era a sua senha, só pode redefinir?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RESPOSTA 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Não. Ele guarda o hash da senha.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02920" y="1463040"/>
            <a:ext cx="11155680" cy="2194560"/>
          </a:xfrm>
          <a:prstGeom prst="roundRect">
            <a:avLst>
              <a:gd fmla="val 25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Como funciona a verificação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758952" y="2066544"/>
            <a:ext cx="1064361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Ao criar a senha, o sistema aplica uma função hash e guarda apenas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resultado. Quando você faz login, ele aplica a mesma função ao 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foi digitado e compara os dois resultados.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02920" y="3931920"/>
            <a:ext cx="11155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Hash é uma via de mão única: fácil de calcular, inviável de reverter.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Por isso o site não tem como recuperar a senha, apenas redefinir.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PERGUNTA 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é minerar Bitcoin?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822960" y="1554480"/>
            <a:ext cx="914400" cy="914400"/>
          </a:xfrm>
          <a:prstGeom prst="roundRect">
            <a:avLst>
              <a:gd fmla="val 8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822960" y="155448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2011680" y="1600200"/>
            <a:ext cx="9601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é minerar Bitcoin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 o que isso tem a ver com computação?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822960" y="411480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Minerar é resolver um problema matemático, mas qual problema?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1  |  RESPOSTA 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resolver um problema de hash.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02920" y="1463040"/>
            <a:ext cx="11155680" cy="2194560"/>
          </a:xfrm>
          <a:prstGeom prst="roundRect">
            <a:avLst>
              <a:gd fmla="val 25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758952" y="16276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trabalho da mineração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758952" y="2066544"/>
            <a:ext cx="10643616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Bitcoin usa SHA-256, uma função hash criptográfica. Minerar é procurar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 número que, somado aos dados do bloco, produza um hash começando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 uma quantidade determinada de zeros.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502920" y="3931920"/>
            <a:ext cx="11155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 existe atalho: é preciso testar número por número até achar.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dificuldade é ajustada para que um bloco seja encontrado a cada dez minutos.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é uma função de hash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função que transforma qualquer entrada em um número de tamanho fixo.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914400" y="1965960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914400" y="19659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"João"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10"/>
          <p:cNvCxnSpPr/>
          <p:nvPr/>
        </p:nvCxnSpPr>
        <p:spPr>
          <a:xfrm>
            <a:off x="2880360" y="224028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10"/>
          <p:cNvSpPr/>
          <p:nvPr/>
        </p:nvSpPr>
        <p:spPr>
          <a:xfrm>
            <a:off x="3794760" y="1965960"/>
            <a:ext cx="201168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3794760" y="196596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função hash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0"/>
          <p:cNvCxnSpPr/>
          <p:nvPr/>
        </p:nvCxnSpPr>
        <p:spPr>
          <a:xfrm>
            <a:off x="5943600" y="224028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10"/>
          <p:cNvSpPr/>
          <p:nvPr/>
        </p:nvSpPr>
        <p:spPr>
          <a:xfrm>
            <a:off x="6858000" y="1965960"/>
            <a:ext cx="914400" cy="548640"/>
          </a:xfrm>
          <a:prstGeom prst="roundRect">
            <a:avLst>
              <a:gd fmla="val 8333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6858000" y="196596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914400" y="2697480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914400" y="26974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"Maria"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0"/>
          <p:cNvCxnSpPr/>
          <p:nvPr/>
        </p:nvCxnSpPr>
        <p:spPr>
          <a:xfrm>
            <a:off x="2880360" y="29718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0"/>
          <p:cNvSpPr/>
          <p:nvPr/>
        </p:nvSpPr>
        <p:spPr>
          <a:xfrm>
            <a:off x="3794760" y="2697480"/>
            <a:ext cx="201168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3794760" y="269748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função hash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10"/>
          <p:cNvCxnSpPr/>
          <p:nvPr/>
        </p:nvCxnSpPr>
        <p:spPr>
          <a:xfrm>
            <a:off x="5943600" y="297180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9" name="Google Shape;159;p10"/>
          <p:cNvSpPr/>
          <p:nvPr/>
        </p:nvSpPr>
        <p:spPr>
          <a:xfrm>
            <a:off x="6858000" y="2697480"/>
            <a:ext cx="914400" cy="548640"/>
          </a:xfrm>
          <a:prstGeom prst="roundRect">
            <a:avLst>
              <a:gd fmla="val 8333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6858000" y="269748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914400" y="3429000"/>
            <a:ext cx="182880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914400" y="342900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"Carlos"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10"/>
          <p:cNvCxnSpPr/>
          <p:nvPr/>
        </p:nvCxnSpPr>
        <p:spPr>
          <a:xfrm>
            <a:off x="2880360" y="370332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10"/>
          <p:cNvSpPr/>
          <p:nvPr/>
        </p:nvSpPr>
        <p:spPr>
          <a:xfrm>
            <a:off x="3794760" y="3429000"/>
            <a:ext cx="201168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3794760" y="342900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função hash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10"/>
          <p:cNvCxnSpPr/>
          <p:nvPr/>
        </p:nvCxnSpPr>
        <p:spPr>
          <a:xfrm>
            <a:off x="5943600" y="3703320"/>
            <a:ext cx="7772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10"/>
          <p:cNvSpPr/>
          <p:nvPr/>
        </p:nvSpPr>
        <p:spPr>
          <a:xfrm>
            <a:off x="6858000" y="3429000"/>
            <a:ext cx="914400" cy="548640"/>
          </a:xfrm>
          <a:prstGeom prst="roundRect">
            <a:avLst>
              <a:gd fmla="val 8333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6858000" y="34290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138160" y="1965960"/>
            <a:ext cx="3520440" cy="2514600"/>
          </a:xfrm>
          <a:prstGeom prst="roundRect">
            <a:avLst>
              <a:gd fmla="val 2182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8394192" y="2130552"/>
            <a:ext cx="30083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Propriedades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8394192" y="2569464"/>
            <a:ext cx="3008376" cy="174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Determinística.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Rápida de calcular.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Distribui bem.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é uma tabela hash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 array onde cada posição é calculada pela função hash, não percorrida.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685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685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685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828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1828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Carlos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828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2971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2971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2971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4114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4114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João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4114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257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5257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257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00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6400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6400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543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7543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543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686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8686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Maria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686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9829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9829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9829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10972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10972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0972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02920" y="3246120"/>
            <a:ext cx="5486400" cy="1508760"/>
          </a:xfrm>
          <a:prstGeom prst="roundRect">
            <a:avLst>
              <a:gd fmla="val 3636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758952" y="341071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Array normal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758952" y="3849624"/>
            <a:ext cx="497433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Percorre posição a posição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até encontrar.  O(n)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172200" y="3246120"/>
            <a:ext cx="5486400" cy="1508760"/>
          </a:xfrm>
          <a:prstGeom prst="roundRect">
            <a:avLst>
              <a:gd fmla="val 3636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6428232" y="341071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Tabela hash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6428232" y="3849624"/>
            <a:ext cx="497433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Calcula o índice e vai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direto.  O(1)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502920" y="498348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Carlos vai para 1, João para 3 e Maria para 7 porque foi isso que a função devolveu.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CONCEITO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Colisões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colisão ocorre quando a função devolve o mesmo índice para entradas diferentes.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1097280" y="2011680"/>
            <a:ext cx="164592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097280" y="201168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"Ana"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097280" y="2788920"/>
            <a:ext cx="1645920" cy="548640"/>
          </a:xfrm>
          <a:prstGeom prst="roundRect">
            <a:avLst>
              <a:gd fmla="val 8333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1097280" y="278892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"Pedro"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2"/>
          <p:cNvCxnSpPr/>
          <p:nvPr/>
        </p:nvCxnSpPr>
        <p:spPr>
          <a:xfrm>
            <a:off x="2880360" y="2286000"/>
            <a:ext cx="1371600" cy="411480"/>
          </a:xfrm>
          <a:prstGeom prst="straightConnector1">
            <a:avLst/>
          </a:prstGeom>
          <a:noFill/>
          <a:ln cap="flat" cmpd="sng" w="25400">
            <a:solidFill>
              <a:srgbClr val="D8B168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12"/>
          <p:cNvCxnSpPr/>
          <p:nvPr/>
        </p:nvCxnSpPr>
        <p:spPr>
          <a:xfrm flipH="1" rot="10800000">
            <a:off x="2880360" y="2651760"/>
            <a:ext cx="1371600" cy="411480"/>
          </a:xfrm>
          <a:prstGeom prst="straightConnector1">
            <a:avLst/>
          </a:prstGeom>
          <a:noFill/>
          <a:ln cap="flat" cmpd="sng" w="25400">
            <a:solidFill>
              <a:srgbClr val="D8B16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12"/>
          <p:cNvSpPr/>
          <p:nvPr/>
        </p:nvSpPr>
        <p:spPr>
          <a:xfrm>
            <a:off x="4389120" y="2423160"/>
            <a:ext cx="1280160" cy="548640"/>
          </a:xfrm>
          <a:prstGeom prst="roundRect">
            <a:avLst>
              <a:gd fmla="val 8333" name="adj"/>
            </a:avLst>
          </a:prstGeom>
          <a:solidFill>
            <a:srgbClr val="D8B168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4389120" y="24231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000"/>
              <a:buFont typeface="Consolas"/>
              <a:buNone/>
            </a:pPr>
            <a:r>
              <a:rPr b="1" i="0" lang="en-US" sz="20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852160" y="242316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B168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conflito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680960" y="2011680"/>
            <a:ext cx="3977640" cy="2011680"/>
          </a:xfrm>
          <a:prstGeom prst="roundRect">
            <a:avLst>
              <a:gd fmla="val 272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7936992" y="2176272"/>
            <a:ext cx="34655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Por que acontece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7936992" y="2615184"/>
            <a:ext cx="3465576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espaço de entradas 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infinito, o da tabela 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finito. Colidir 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inevitável.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502920" y="4023360"/>
            <a:ext cx="11155680" cy="1737360"/>
          </a:xfrm>
          <a:prstGeom prst="roundRect">
            <a:avLst>
              <a:gd fmla="val 315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758952" y="418795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Duas estratégias para resolver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758952" y="4626864"/>
            <a:ext cx="10643616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Encadeamento: cada posição guarda uma lista com todos que caíram nela.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Endereçamento aberto: procura outra posição livre dentro da própria tabela.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COLISÕES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Encadeamento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Cada posição da tabela aponta para uma lista. Quem colide entra no fim dela.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914400" y="2011680"/>
            <a:ext cx="64008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914400" y="201168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1691640" y="2011680"/>
            <a:ext cx="17373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/>
          <p:cNvSpPr/>
          <p:nvPr/>
        </p:nvSpPr>
        <p:spPr>
          <a:xfrm>
            <a:off x="1691640" y="20116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914400" y="2578608"/>
            <a:ext cx="64008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914400" y="257860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691640" y="2578608"/>
            <a:ext cx="1737360" cy="457200"/>
          </a:xfrm>
          <a:prstGeom prst="roundRect">
            <a:avLst>
              <a:gd fmla="val 10000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/>
          <p:cNvSpPr/>
          <p:nvPr/>
        </p:nvSpPr>
        <p:spPr>
          <a:xfrm>
            <a:off x="1691640" y="257860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Carlos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914400" y="3145536"/>
            <a:ext cx="64008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/>
          <p:cNvSpPr/>
          <p:nvPr/>
        </p:nvSpPr>
        <p:spPr>
          <a:xfrm>
            <a:off x="914400" y="3145536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1691640" y="3145536"/>
            <a:ext cx="17373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1691640" y="3145536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914400" y="3712464"/>
            <a:ext cx="64008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914400" y="371246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691640" y="3712464"/>
            <a:ext cx="1737360" cy="457200"/>
          </a:xfrm>
          <a:prstGeom prst="roundRect">
            <a:avLst>
              <a:gd fmla="val 10000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691640" y="371246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Ana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3" name="Google Shape;273;p13"/>
          <p:cNvCxnSpPr/>
          <p:nvPr/>
        </p:nvCxnSpPr>
        <p:spPr>
          <a:xfrm>
            <a:off x="3520440" y="3941064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13"/>
          <p:cNvSpPr/>
          <p:nvPr/>
        </p:nvSpPr>
        <p:spPr>
          <a:xfrm>
            <a:off x="3931920" y="3712464"/>
            <a:ext cx="1737360" cy="457200"/>
          </a:xfrm>
          <a:prstGeom prst="roundRect">
            <a:avLst>
              <a:gd fmla="val 10000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3931920" y="3712464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14400" y="4279392"/>
            <a:ext cx="64008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914400" y="427939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1691640" y="4279392"/>
            <a:ext cx="17373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691640" y="4279392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309360" y="2011680"/>
            <a:ext cx="5349240" cy="1508760"/>
          </a:xfrm>
          <a:prstGeom prst="roundRect">
            <a:avLst>
              <a:gd fmla="val 3636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6565392" y="2176272"/>
            <a:ext cx="48371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Vantagem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6565392" y="2615184"/>
            <a:ext cx="483717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Simples de implementar 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lida bem com colisões.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6309360" y="3703320"/>
            <a:ext cx="5349240" cy="1508760"/>
          </a:xfrm>
          <a:prstGeom prst="roundRect">
            <a:avLst>
              <a:gd fmla="val 3636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565392" y="3867912"/>
            <a:ext cx="48371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Desvantagem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565392" y="4306824"/>
            <a:ext cx="483717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Memória extra para 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ponteiros das listas.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COLISÕES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Endereçamento aberto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Quando colide, procura a próxima posição livre dentro da própria tabela.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685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685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685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1828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1828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Carlos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1828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2971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2971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2971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4114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4"/>
          <p:cNvSpPr/>
          <p:nvPr/>
        </p:nvSpPr>
        <p:spPr>
          <a:xfrm>
            <a:off x="4114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114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257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5257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Pedro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5257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400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6400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6400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7543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7543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543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8686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02C39A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8686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Maria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8686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9829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9829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9829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10972800" y="1965960"/>
            <a:ext cx="1051560" cy="658368"/>
          </a:xfrm>
          <a:prstGeom prst="roundRect">
            <a:avLst>
              <a:gd fmla="val 6944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/>
          <p:nvPr/>
        </p:nvSpPr>
        <p:spPr>
          <a:xfrm>
            <a:off x="10972800" y="1965960"/>
            <a:ext cx="10515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10972800" y="2660904"/>
            <a:ext cx="1051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85800" y="32004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Pedro calcula 3, mas a posição 3 está ocupada por Ana.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600"/>
              <a:buFont typeface="Consolas"/>
              <a:buNone/>
            </a:pPr>
            <a:r>
              <a:rPr b="0" i="0" lang="en-US" sz="16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Tenta a 4, que está livre, e fica nela.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502920" y="4297680"/>
            <a:ext cx="11155680" cy="1783080"/>
          </a:xfrm>
          <a:prstGeom prst="roundRect">
            <a:avLst>
              <a:gd fmla="val 307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"/>
          <p:cNvSpPr/>
          <p:nvPr/>
        </p:nvSpPr>
        <p:spPr>
          <a:xfrm>
            <a:off x="758952" y="446227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Três formas de sondagem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758952" y="4901184"/>
            <a:ext cx="1064361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Linear: tenta índice mais um, mais dois, e assim por diante.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Quadrática: tenta mais um ao quadrado, mais dois ao quadrado.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Hash duplo: aplica uma segunda função hash para decidir o salto.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5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2  |  CUSTO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Complexidade, média e pior caso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1" name="Google Shape;341;p15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4572000"/>
                <a:gridCol w="3291850"/>
                <a:gridCol w="32918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7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Operação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7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Caso médio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700"/>
                        <a:buFont typeface="Consolas"/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Pior caso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Inserção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O(n)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Busca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O(n)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Remoção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700"/>
                        <a:buFont typeface="Consolas"/>
                        <a:buNone/>
                      </a:pPr>
                      <a:r>
                        <a:rPr lang="en-US" sz="17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O(n)</a:t>
                      </a:r>
                      <a:endParaRPr sz="17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0800" marB="508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</a:tbl>
          </a:graphicData>
        </a:graphic>
      </p:graphicFrame>
      <p:sp>
        <p:nvSpPr>
          <p:cNvPr id="342" name="Google Shape;342;p15"/>
          <p:cNvSpPr/>
          <p:nvPr/>
        </p:nvSpPr>
        <p:spPr>
          <a:xfrm>
            <a:off x="502920" y="3520440"/>
            <a:ext cx="11155680" cy="2423160"/>
          </a:xfrm>
          <a:prstGeom prst="roundRect">
            <a:avLst>
              <a:gd fmla="val 2264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758952" y="36850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Por que O(n) no pior caso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58952" y="4123944"/>
            <a:ext cx="10643616" cy="1655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 todas as chaves caírem na mesma posição, a busca dentro daquela lista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vira uma busca linear.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Isso acontece quando a função hash distribui mal. É por isso que a escolha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da função importa tanto, e é o que vamos comparar a seguir.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FUNÇÃO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A, devolve sempre o índice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Array de entrada: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685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685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1828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1828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2971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2971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>
            <a:off x="4114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>
            <a:off x="4114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5257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5257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6400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6400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7543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6"/>
          <p:cNvSpPr/>
          <p:nvPr/>
        </p:nvSpPr>
        <p:spPr>
          <a:xfrm>
            <a:off x="7543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egg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8686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>
            <a:off x="8686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9829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9829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10972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"/>
          <p:cNvSpPr/>
          <p:nvPr/>
        </p:nvSpPr>
        <p:spPr>
          <a:xfrm>
            <a:off x="10972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jam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02920" y="22860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Para qualquer entrada, esta função devolve sempre 1.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02920" y="2880360"/>
            <a:ext cx="6400800" cy="2148840"/>
          </a:xfrm>
          <a:prstGeom prst="roundRect">
            <a:avLst>
              <a:gd fmla="val 2128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731520" y="3026664"/>
            <a:ext cx="5943600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hashA(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texto)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7178040" y="2880360"/>
            <a:ext cx="4480560" cy="2148840"/>
          </a:xfrm>
          <a:prstGeom prst="roundRect">
            <a:avLst>
              <a:gd fmla="val 2553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7434072" y="3044952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Para responder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7434072" y="3483864"/>
            <a:ext cx="3968496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Quantas colisões ocorrem?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Qual a complexidade 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busca nessa tabela?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7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7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RESPOSTA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A, sempre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2" name="Google Shape;392;p17"/>
          <p:cNvGraphicFramePr/>
          <p:nvPr/>
        </p:nvGraphicFramePr>
        <p:xfrm>
          <a:off x="5029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1097275"/>
                <a:gridCol w="55778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Posição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Conteúdo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bag, apple, cat, dog, ant,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bat, egg, fig, ham, jam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</a:tbl>
          </a:graphicData>
        </a:graphic>
      </p:graphicFrame>
      <p:sp>
        <p:nvSpPr>
          <p:cNvPr id="393" name="Google Shape;393;p17"/>
          <p:cNvSpPr/>
          <p:nvPr/>
        </p:nvSpPr>
        <p:spPr>
          <a:xfrm>
            <a:off x="7406640" y="1280160"/>
            <a:ext cx="4251960" cy="4663440"/>
          </a:xfrm>
          <a:prstGeom prst="roundRect">
            <a:avLst>
              <a:gd fmla="val 129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>
            <a:off x="7662672" y="1444752"/>
            <a:ext cx="3739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Análise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7662672" y="1883664"/>
            <a:ext cx="3739896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Nove colisões, todas na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posição 1.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Nove posições vazias.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busca vira uma busca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linear na lista, ou seja,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O(n).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o pior caso possível: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tabela deixou de ser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tabela hash.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8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FUNÇÃO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B, comprimento da string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8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Array de entrada: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685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685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1828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1828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2971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2971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4114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4114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5257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5257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6400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6400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7543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8"/>
          <p:cNvSpPr/>
          <p:nvPr/>
        </p:nvSpPr>
        <p:spPr>
          <a:xfrm>
            <a:off x="7543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egg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8686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8686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9829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9829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10972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>
            <a:off x="10972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jam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502920" y="22860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índice de cada string é o número de caracteres dela.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502920" y="2880360"/>
            <a:ext cx="6400800" cy="2148840"/>
          </a:xfrm>
          <a:prstGeom prst="roundRect">
            <a:avLst>
              <a:gd fmla="val 2128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731520" y="3026664"/>
            <a:ext cx="5943600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hashB(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texto)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texto.length();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7178040" y="2880360"/>
            <a:ext cx="4480560" cy="2148840"/>
          </a:xfrm>
          <a:prstGeom prst="roundRect">
            <a:avLst>
              <a:gd fmla="val 2553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8"/>
          <p:cNvSpPr/>
          <p:nvPr/>
        </p:nvSpPr>
        <p:spPr>
          <a:xfrm>
            <a:off x="7434072" y="3044952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Para responder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7434072" y="3483864"/>
            <a:ext cx="3968496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Quantas colisões ocorrem?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melhor que a função 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9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RESPOSTA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B, comprimento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3" name="Google Shape;443;p19"/>
          <p:cNvGraphicFramePr/>
          <p:nvPr/>
        </p:nvGraphicFramePr>
        <p:xfrm>
          <a:off x="5029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1097275"/>
                <a:gridCol w="55778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Posição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Conteúdo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bag, cat, dog, ant, bat,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egg, fig, ham, jam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apple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</a:tbl>
          </a:graphicData>
        </a:graphic>
      </p:graphicFrame>
      <p:sp>
        <p:nvSpPr>
          <p:cNvPr id="444" name="Google Shape;444;p19"/>
          <p:cNvSpPr/>
          <p:nvPr/>
        </p:nvSpPr>
        <p:spPr>
          <a:xfrm>
            <a:off x="7406640" y="1280160"/>
            <a:ext cx="4251960" cy="4663440"/>
          </a:xfrm>
          <a:prstGeom prst="roundRect">
            <a:avLst>
              <a:gd fmla="val 129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7662672" y="1444752"/>
            <a:ext cx="3739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Análise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7662672" y="1883664"/>
            <a:ext cx="3739896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Oito colisões na posição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3: nove palavras têm três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letras.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Sete posições vazias.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Melhor que A, mas ainda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ruim para este conjunto.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Funcionaria melhor 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tamanhos variados.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0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FUNÇÃO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C, primeiro caractere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Array de entrada: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685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/>
          <p:nvPr/>
        </p:nvSpPr>
        <p:spPr>
          <a:xfrm>
            <a:off x="685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1828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>
            <a:off x="1828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2971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>
            <a:off x="2971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4114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/>
          <p:nvPr/>
        </p:nvSpPr>
        <p:spPr>
          <a:xfrm>
            <a:off x="4114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5257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5257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6400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6400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7543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>
            <a:off x="7543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egg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8686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8686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9829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/>
          <p:nvPr/>
        </p:nvSpPr>
        <p:spPr>
          <a:xfrm>
            <a:off x="9829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10972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/>
          <p:nvPr/>
        </p:nvSpPr>
        <p:spPr>
          <a:xfrm>
            <a:off x="10972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jam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502920" y="22860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índice é o valor ASCII do primeiro caractere, módulo 10.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502920" y="2880360"/>
            <a:ext cx="6400800" cy="2148840"/>
          </a:xfrm>
          <a:prstGeom prst="roundRect">
            <a:avLst>
              <a:gd fmla="val 2128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/>
          <p:nvPr/>
        </p:nvSpPr>
        <p:spPr>
          <a:xfrm>
            <a:off x="731520" y="3026664"/>
            <a:ext cx="5943600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hashC(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texto)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)texto[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%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7178040" y="2880360"/>
            <a:ext cx="4480560" cy="2148840"/>
          </a:xfrm>
          <a:prstGeom prst="roundRect">
            <a:avLst>
              <a:gd fmla="val 2553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/>
          <p:nvPr/>
        </p:nvSpPr>
        <p:spPr>
          <a:xfrm>
            <a:off x="7434072" y="3044952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Para responder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/>
          <p:nvPr/>
        </p:nvSpPr>
        <p:spPr>
          <a:xfrm>
            <a:off x="7434072" y="3483864"/>
            <a:ext cx="3968496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Quantas colisões ocorrem?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Por que ainda não é ideal?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RESPOSTA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C, primeiro caractere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94" name="Google Shape;494;p21"/>
          <p:cNvGraphicFramePr/>
          <p:nvPr/>
        </p:nvGraphicFramePr>
        <p:xfrm>
          <a:off x="5029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1097275"/>
                <a:gridCol w="55778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Posição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Conteúdo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egg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ham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jam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apple, ant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bag, bat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</a:tbl>
          </a:graphicData>
        </a:graphic>
      </p:graphicFrame>
      <p:sp>
        <p:nvSpPr>
          <p:cNvPr id="495" name="Google Shape;495;p21"/>
          <p:cNvSpPr/>
          <p:nvPr/>
        </p:nvSpPr>
        <p:spPr>
          <a:xfrm>
            <a:off x="7406640" y="1280160"/>
            <a:ext cx="4251960" cy="4663440"/>
          </a:xfrm>
          <a:prstGeom prst="roundRect">
            <a:avLst>
              <a:gd fmla="val 129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1"/>
          <p:cNvSpPr/>
          <p:nvPr/>
        </p:nvSpPr>
        <p:spPr>
          <a:xfrm>
            <a:off x="7662672" y="1444752"/>
            <a:ext cx="3739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Análise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7662672" y="1883664"/>
            <a:ext cx="3739896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Duas colisões, nas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posições 7 e 8.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Bem melhor que A e B.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Mas agrupa por letra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inicial.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Em mil palavras, quantas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começam com a mesma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letra?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FUNÇÃO 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D, soma dos primos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2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Array de entrada: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685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685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1828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1828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apple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2971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2971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4114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4114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5257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5257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6400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6400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7543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7543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egg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8686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8686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fig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9829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9829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10972800" y="1600200"/>
            <a:ext cx="1051560" cy="457200"/>
          </a:xfrm>
          <a:prstGeom prst="roundRect">
            <a:avLst>
              <a:gd fmla="val 10000" name="adj"/>
            </a:avLst>
          </a:prstGeom>
          <a:solidFill>
            <a:srgbClr val="1E1F26"/>
          </a:solidFill>
          <a:ln cap="flat" cmpd="sng" w="1905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10972800" y="16002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jam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02920" y="228600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Cada letra vale um primo. O índice é a soma deles, módulo 10.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502920" y="2880360"/>
            <a:ext cx="6400800" cy="2148840"/>
          </a:xfrm>
          <a:prstGeom prst="roundRect">
            <a:avLst>
              <a:gd fmla="val 2128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2"/>
          <p:cNvSpPr/>
          <p:nvPr/>
        </p:nvSpPr>
        <p:spPr>
          <a:xfrm>
            <a:off x="731520" y="3026664"/>
            <a:ext cx="5943600" cy="1856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hashD(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texto)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 =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c : texto)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soma += primo(c);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soma %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7178040" y="2880360"/>
            <a:ext cx="4480560" cy="2148840"/>
          </a:xfrm>
          <a:prstGeom prst="roundRect">
            <a:avLst>
              <a:gd fmla="val 2553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7434072" y="3044952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Para responder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7434072" y="3483864"/>
            <a:ext cx="3968496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Houve colisões?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Qual das quatro funções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distribuiu melhor?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3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RESPOSTA 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Função D, soma dos primos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5" name="Google Shape;545;p23"/>
          <p:cNvGraphicFramePr/>
          <p:nvPr/>
        </p:nvGraphicFramePr>
        <p:xfrm>
          <a:off x="502920" y="1280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1097275"/>
                <a:gridCol w="55778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Posição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400"/>
                        <a:buFont typeface="Consola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Conteúdo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bag, ham, jam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egg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apple, ant, bat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BA1A9"/>
                        </a:buClr>
                        <a:buSzPts val="1400"/>
                        <a:buFont typeface="Consolas"/>
                        <a:buNone/>
                      </a:pPr>
                      <a:r>
                        <a:rPr lang="en-US" sz="1400" u="none" cap="none" strike="noStrike">
                          <a:solidFill>
                            <a:srgbClr val="9BA1A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—</a:t>
                      </a:r>
                      <a:endParaRPr sz="14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5400" marB="254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</a:tbl>
          </a:graphicData>
        </a:graphic>
      </p:graphicFrame>
      <p:sp>
        <p:nvSpPr>
          <p:cNvPr id="546" name="Google Shape;546;p23"/>
          <p:cNvSpPr/>
          <p:nvPr/>
        </p:nvSpPr>
        <p:spPr>
          <a:xfrm>
            <a:off x="7406640" y="1280160"/>
            <a:ext cx="4251960" cy="4663440"/>
          </a:xfrm>
          <a:prstGeom prst="roundRect">
            <a:avLst>
              <a:gd fmla="val 129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7662672" y="1444752"/>
            <a:ext cx="37398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Análise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7662672" y="1883664"/>
            <a:ext cx="3739896" cy="3895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Quatro colisões em dois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grupos. A melhor 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quatro.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 o conteúdo inteiro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da string.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bag vale 3+2+17 = 22,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 22 % 10 = 2.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Limitação: a ordem 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letras não importa.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4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4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3  |  CONCLUSÃO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as quatro funções mostram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4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502920" y="1371600"/>
            <a:ext cx="11155680" cy="2103120"/>
          </a:xfrm>
          <a:prstGeom prst="roundRect">
            <a:avLst>
              <a:gd fmla="val 2609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758952" y="153619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Uma função hash não se avalia sozinha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4"/>
          <p:cNvSpPr/>
          <p:nvPr/>
        </p:nvSpPr>
        <p:spPr>
          <a:xfrm>
            <a:off x="758952" y="1975104"/>
            <a:ext cx="10643616" cy="1335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Ela depende do conjunto de dados que vai receber. A função B seria razoável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para palavras de tamanhos variados, mas falha com palavras do mesmo tamanho.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função C seria razoável se as iniciais fossem bem distribuídas.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4"/>
          <p:cNvSpPr/>
          <p:nvPr/>
        </p:nvSpPr>
        <p:spPr>
          <a:xfrm>
            <a:off x="502920" y="3749040"/>
            <a:ext cx="11155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boa função usa o conteúdo completo da entrada e distribui bem para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conjunto esperado.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 se multiplicássemos cada primo pela posição da letra? A ordem passaria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importar. É o que vocês vão fazer no exercício 1 da lista.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5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5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UNORDERED_MAP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5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#include &lt;unordered_map&gt;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502920" y="1280160"/>
            <a:ext cx="5577840" cy="4434840"/>
          </a:xfrm>
          <a:prstGeom prst="roundRect">
            <a:avLst>
              <a:gd fmla="val 123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5"/>
          <p:cNvSpPr/>
          <p:nvPr/>
        </p:nvSpPr>
        <p:spPr>
          <a:xfrm>
            <a:off x="758952" y="1444752"/>
            <a:ext cx="5065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Características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5"/>
          <p:cNvSpPr/>
          <p:nvPr/>
        </p:nvSpPr>
        <p:spPr>
          <a:xfrm>
            <a:off x="758952" y="1883664"/>
            <a:ext cx="506577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Armazena pares chave 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valor.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Chave única, sem repetir.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Acesso O(1) na média.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 mantém ordem.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6309360" y="1280160"/>
            <a:ext cx="5349240" cy="4434840"/>
          </a:xfrm>
          <a:prstGeom prst="roundRect">
            <a:avLst>
              <a:gd fmla="val 1031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6537960" y="1426464"/>
            <a:ext cx="4892040" cy="4142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unordered_map&lt;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&gt; 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"Brasilia"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"France"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"Paris"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t[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Brasilia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6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UNORDERED_MAP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 funções principais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502920" y="1280160"/>
            <a:ext cx="5577840" cy="2286000"/>
          </a:xfrm>
          <a:prstGeom prst="roundRect">
            <a:avLst>
              <a:gd fmla="val 2000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6"/>
          <p:cNvSpPr/>
          <p:nvPr/>
        </p:nvSpPr>
        <p:spPr>
          <a:xfrm>
            <a:off x="731520" y="1426464"/>
            <a:ext cx="512064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inserir ou atualizar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tabela[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"Brasilia"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buscar com segurança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auto it = tabela.find(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(it != tabela.end())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it-&gt;second;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6309360" y="1280160"/>
            <a:ext cx="5349240" cy="2286000"/>
          </a:xfrm>
          <a:prstGeom prst="roundRect">
            <a:avLst>
              <a:gd fmla="val 2000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6"/>
          <p:cNvSpPr/>
          <p:nvPr/>
        </p:nvSpPr>
        <p:spPr>
          <a:xfrm>
            <a:off x="6537960" y="1426464"/>
            <a:ext cx="4892040" cy="1993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verificar e remover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tabela.count(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tabela.erase(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percorrer todos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(auto&amp; par : tabela) {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par.second;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502920" y="3749040"/>
            <a:ext cx="11155680" cy="2286000"/>
          </a:xfrm>
          <a:prstGeom prst="roundRect">
            <a:avLst>
              <a:gd fmla="val 240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6"/>
          <p:cNvSpPr/>
          <p:nvPr/>
        </p:nvSpPr>
        <p:spPr>
          <a:xfrm>
            <a:off x="758952" y="391363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Pontos de atenção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758952" y="4352544"/>
            <a:ext cx="10643616" cy="15179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operador [] cria a chave se ela não existir. Para apenas consultar,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use find ou count.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Inserir a mesma chave duas vezes não duplica: o segundo valor substitui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primeiro.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UNORDERED_SET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7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#include &lt;unordered_set&gt;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02920" y="1280160"/>
            <a:ext cx="5577840" cy="4434840"/>
          </a:xfrm>
          <a:prstGeom prst="roundRect">
            <a:avLst>
              <a:gd fmla="val 123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758952" y="1444752"/>
            <a:ext cx="5065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Características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7"/>
          <p:cNvSpPr/>
          <p:nvPr/>
        </p:nvSpPr>
        <p:spPr>
          <a:xfrm>
            <a:off x="758952" y="1883664"/>
            <a:ext cx="506577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Armazena apenas chaves,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sem valor associado.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Duplicatas são ignoradas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silenciosamente.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Acesso O(1) na média.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Uso típico: verificar 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algo já existe.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/>
          <p:nvPr/>
        </p:nvSpPr>
        <p:spPr>
          <a:xfrm>
            <a:off x="6309360" y="1280160"/>
            <a:ext cx="5349240" cy="4434840"/>
          </a:xfrm>
          <a:prstGeom prst="roundRect">
            <a:avLst>
              <a:gd fmla="val 1031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7"/>
          <p:cNvSpPr/>
          <p:nvPr/>
        </p:nvSpPr>
        <p:spPr>
          <a:xfrm>
            <a:off x="6537960" y="1426464"/>
            <a:ext cx="4892040" cy="4142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unordered_set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&lt;int&gt;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s = {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s.insert(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entra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s.insert(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ignorado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s.count(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1 se existe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s.erase(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s.size();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8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8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UNORDERED_MULTIMAP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8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#include &lt;unordered_map&gt;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8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8"/>
          <p:cNvSpPr/>
          <p:nvPr/>
        </p:nvSpPr>
        <p:spPr>
          <a:xfrm>
            <a:off x="502920" y="1280160"/>
            <a:ext cx="5577840" cy="4434840"/>
          </a:xfrm>
          <a:prstGeom prst="roundRect">
            <a:avLst>
              <a:gd fmla="val 123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8"/>
          <p:cNvSpPr/>
          <p:nvPr/>
        </p:nvSpPr>
        <p:spPr>
          <a:xfrm>
            <a:off x="758952" y="1444752"/>
            <a:ext cx="5065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Características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8"/>
          <p:cNvSpPr/>
          <p:nvPr/>
        </p:nvSpPr>
        <p:spPr>
          <a:xfrm>
            <a:off x="758952" y="1883664"/>
            <a:ext cx="506577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Pares chave e valor, com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chaves repetidas.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mesma chave pode 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vários valores.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 usa o operador [],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 insert.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equal_range devolve todas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 ocorrências.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8"/>
          <p:cNvSpPr/>
          <p:nvPr/>
        </p:nvSpPr>
        <p:spPr>
          <a:xfrm>
            <a:off x="6309360" y="1280160"/>
            <a:ext cx="5349240" cy="4434840"/>
          </a:xfrm>
          <a:prstGeom prst="roundRect">
            <a:avLst>
              <a:gd fmla="val 1031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8"/>
          <p:cNvSpPr/>
          <p:nvPr/>
        </p:nvSpPr>
        <p:spPr>
          <a:xfrm>
            <a:off x="6537960" y="1426464"/>
            <a:ext cx="4892040" cy="4142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unordered_multimap&lt;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&gt; 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t.insert({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"Geterson"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"IHC"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t.insert({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"Geterson"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"GTI"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t.count(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"Geterson"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29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9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UNORDERED_MULTIMAP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9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Percorrer todos os valores de uma chave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9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9"/>
          <p:cNvSpPr/>
          <p:nvPr/>
        </p:nvSpPr>
        <p:spPr>
          <a:xfrm>
            <a:off x="502920" y="1325880"/>
            <a:ext cx="6949440" cy="2377440"/>
          </a:xfrm>
          <a:prstGeom prst="roundRect">
            <a:avLst>
              <a:gd fmla="val 1923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9"/>
          <p:cNvSpPr/>
          <p:nvPr/>
        </p:nvSpPr>
        <p:spPr>
          <a:xfrm>
            <a:off x="731520" y="1472184"/>
            <a:ext cx="6492240" cy="2084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auto faixa = tabela.equal_range(</a:t>
            </a:r>
            <a:r>
              <a:rPr b="0" i="0" lang="en-US" sz="15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"Geterson"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(auto it = faixa.first;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it != faixa.second; it++)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it-&gt;second &lt;&lt;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endl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9"/>
          <p:cNvSpPr/>
          <p:nvPr/>
        </p:nvSpPr>
        <p:spPr>
          <a:xfrm>
            <a:off x="7726680" y="1280160"/>
            <a:ext cx="3931920" cy="2697480"/>
          </a:xfrm>
          <a:prstGeom prst="roundRect">
            <a:avLst>
              <a:gd fmla="val 2034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9"/>
          <p:cNvSpPr/>
          <p:nvPr/>
        </p:nvSpPr>
        <p:spPr>
          <a:xfrm>
            <a:off x="7982712" y="1444752"/>
            <a:ext cx="341985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equal_range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9"/>
          <p:cNvSpPr/>
          <p:nvPr/>
        </p:nvSpPr>
        <p:spPr>
          <a:xfrm>
            <a:off x="7982712" y="1883664"/>
            <a:ext cx="3419856" cy="192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Devolve o início 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fim das ocorrências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daquela chave.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Percorre-se entre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os dois.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9"/>
          <p:cNvSpPr/>
          <p:nvPr/>
        </p:nvSpPr>
        <p:spPr>
          <a:xfrm>
            <a:off x="502920" y="4251960"/>
            <a:ext cx="11155680" cy="1737360"/>
          </a:xfrm>
          <a:prstGeom prst="roundRect">
            <a:avLst>
              <a:gd fmla="val 3158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9"/>
          <p:cNvSpPr/>
          <p:nvPr/>
        </p:nvSpPr>
        <p:spPr>
          <a:xfrm>
            <a:off x="758952" y="441655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Diferença para o unordered_map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9"/>
          <p:cNvSpPr/>
          <p:nvPr/>
        </p:nvSpPr>
        <p:spPr>
          <a:xfrm>
            <a:off x="758952" y="4855464"/>
            <a:ext cx="10643616" cy="969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 map, inserir a mesma chave substitui o valor anterior.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 multimap, cada inserção é guardada, e a chave passa a ter vários valores.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0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UNORDERED_MULTISET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#include &lt;unordered_set&gt;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0"/>
          <p:cNvSpPr/>
          <p:nvPr/>
        </p:nvSpPr>
        <p:spPr>
          <a:xfrm>
            <a:off x="502920" y="1280160"/>
            <a:ext cx="5577840" cy="4434840"/>
          </a:xfrm>
          <a:prstGeom prst="roundRect">
            <a:avLst>
              <a:gd fmla="val 123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0"/>
          <p:cNvSpPr/>
          <p:nvPr/>
        </p:nvSpPr>
        <p:spPr>
          <a:xfrm>
            <a:off x="758952" y="1444752"/>
            <a:ext cx="5065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Características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0"/>
          <p:cNvSpPr/>
          <p:nvPr/>
        </p:nvSpPr>
        <p:spPr>
          <a:xfrm>
            <a:off x="758952" y="1883664"/>
            <a:ext cx="506577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Apenas chaves, sem valor.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Duplicatas são mantidas.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Cada inserção conta.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Acesso O(1) na média.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Uso típico: contar quantas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vezes cada elemento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aparece.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0"/>
          <p:cNvSpPr/>
          <p:nvPr/>
        </p:nvSpPr>
        <p:spPr>
          <a:xfrm>
            <a:off x="6309360" y="1280160"/>
            <a:ext cx="5349240" cy="4434840"/>
          </a:xfrm>
          <a:prstGeom prst="roundRect">
            <a:avLst>
              <a:gd fmla="val 1031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0"/>
          <p:cNvSpPr/>
          <p:nvPr/>
        </p:nvSpPr>
        <p:spPr>
          <a:xfrm>
            <a:off x="6537960" y="1426464"/>
            <a:ext cx="4892040" cy="4142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unordered_multiset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&lt;int&gt;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ms;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ms.insert(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ms.insert(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ms.insert(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guarda os dois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ms.count(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ms.erase(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  </a:t>
            </a: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remove TODOS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1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1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1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#include &lt;map&gt;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1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1"/>
          <p:cNvSpPr/>
          <p:nvPr/>
        </p:nvSpPr>
        <p:spPr>
          <a:xfrm>
            <a:off x="502920" y="1280160"/>
            <a:ext cx="5577840" cy="4434840"/>
          </a:xfrm>
          <a:prstGeom prst="roundRect">
            <a:avLst>
              <a:gd fmla="val 123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1"/>
          <p:cNvSpPr/>
          <p:nvPr/>
        </p:nvSpPr>
        <p:spPr>
          <a:xfrm>
            <a:off x="758952" y="1444752"/>
            <a:ext cx="5065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Características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1"/>
          <p:cNvSpPr/>
          <p:nvPr/>
        </p:nvSpPr>
        <p:spPr>
          <a:xfrm>
            <a:off x="758952" y="1883664"/>
            <a:ext cx="506577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Pares chave e valor, como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unordered_map.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Sempre ordenado pela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chave, em ordem crescente.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Acesso O(log n), usa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árvore balanceada.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Use quando a ordem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importa.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1"/>
          <p:cNvSpPr/>
          <p:nvPr/>
        </p:nvSpPr>
        <p:spPr>
          <a:xfrm>
            <a:off x="6309360" y="1280160"/>
            <a:ext cx="5349240" cy="4434840"/>
          </a:xfrm>
          <a:prstGeom prst="roundRect">
            <a:avLst>
              <a:gd fmla="val 1031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1"/>
          <p:cNvSpPr/>
          <p:nvPr/>
        </p:nvSpPr>
        <p:spPr>
          <a:xfrm>
            <a:off x="6537960" y="1426464"/>
            <a:ext cx="4892040" cy="4142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map&lt;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4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&gt; notas;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notas[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"Carlos"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notas[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"Ana"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   =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notas[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"Bruno"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]  = </a:t>
            </a:r>
            <a:r>
              <a:rPr b="0" i="0" lang="en-US" sz="14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percorre em ordem: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Ana, Bruno, Carlos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2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2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#include &lt;set&gt;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502920" y="1280160"/>
            <a:ext cx="5577840" cy="4434840"/>
          </a:xfrm>
          <a:prstGeom prst="roundRect">
            <a:avLst>
              <a:gd fmla="val 123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2"/>
          <p:cNvSpPr/>
          <p:nvPr/>
        </p:nvSpPr>
        <p:spPr>
          <a:xfrm>
            <a:off x="758952" y="1444752"/>
            <a:ext cx="50657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Características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758952" y="1883664"/>
            <a:ext cx="5065776" cy="366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Apenas chaves únicas,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como o unordered_set.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Sempre ordenado, em ordem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crescente.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Acesso O(log n), usa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árvore balanceada.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Use quando a ordem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importa.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/>
          <p:nvPr/>
        </p:nvSpPr>
        <p:spPr>
          <a:xfrm>
            <a:off x="6309360" y="1280160"/>
            <a:ext cx="5349240" cy="4434840"/>
          </a:xfrm>
          <a:prstGeom prst="roundRect">
            <a:avLst>
              <a:gd fmla="val 1031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2"/>
          <p:cNvSpPr/>
          <p:nvPr/>
        </p:nvSpPr>
        <p:spPr>
          <a:xfrm>
            <a:off x="6537960" y="1426464"/>
            <a:ext cx="4892040" cy="4142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&lt;string&gt;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cidades;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cidades.insert(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"Sao Paulo"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cidades.insert(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"Campinas"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cidades.insert(</a:t>
            </a:r>
            <a:r>
              <a:rPr b="0" i="0" lang="en-US" sz="14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"Sao Paulo"</a:t>
            </a: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duplicata ignorada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percorre: Campinas,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F768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          Sao Paulo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33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3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4  |  RESUMO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3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Qual biblioteca usar em cada situação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3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3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8" name="Google Shape;698;p33"/>
          <p:cNvGraphicFramePr/>
          <p:nvPr/>
        </p:nvGraphicFramePr>
        <p:xfrm>
          <a:off x="50292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4023350"/>
                <a:gridCol w="1737350"/>
                <a:gridCol w="1737350"/>
                <a:gridCol w="1737350"/>
                <a:gridCol w="19202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Biblioteca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Duplica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Valor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141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3141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Acesso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C3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unordered_map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unordered_set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unordered_multimap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unordered_multiset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O(1)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map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O(log n)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sim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não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O(log n)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38100" marB="38100" marR="76200" marL="762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</a:tbl>
          </a:graphicData>
        </a:graphic>
      </p:graphicFrame>
      <p:sp>
        <p:nvSpPr>
          <p:cNvPr id="699" name="Google Shape;699;p33"/>
          <p:cNvSpPr/>
          <p:nvPr/>
        </p:nvSpPr>
        <p:spPr>
          <a:xfrm>
            <a:off x="502920" y="4572000"/>
            <a:ext cx="1115568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3"/>
          <p:cNvSpPr/>
          <p:nvPr/>
        </p:nvSpPr>
        <p:spPr>
          <a:xfrm>
            <a:off x="758952" y="473659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A regra prática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3"/>
          <p:cNvSpPr/>
          <p:nvPr/>
        </p:nvSpPr>
        <p:spPr>
          <a:xfrm>
            <a:off x="758952" y="5175504"/>
            <a:ext cx="1064361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Precisa de ordem? Use map ou set, e aceite O(log 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Não precisa? Use as versões unordered e ganhe O(1).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4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5  |  AVANÇADO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Como o C++ calcula o hash de cada tipo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4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4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4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C++ já traz funções hash prontas para os tipos primitivos.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4"/>
          <p:cNvSpPr/>
          <p:nvPr/>
        </p:nvSpPr>
        <p:spPr>
          <a:xfrm>
            <a:off x="502920" y="1965960"/>
            <a:ext cx="548640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4"/>
          <p:cNvSpPr/>
          <p:nvPr/>
        </p:nvSpPr>
        <p:spPr>
          <a:xfrm>
            <a:off x="758952" y="213055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int, long, short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4"/>
          <p:cNvSpPr/>
          <p:nvPr/>
        </p:nvSpPr>
        <p:spPr>
          <a:xfrm>
            <a:off x="758952" y="2569464"/>
            <a:ext cx="49743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 o próprio valor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numérico como base.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4"/>
          <p:cNvSpPr/>
          <p:nvPr/>
        </p:nvSpPr>
        <p:spPr>
          <a:xfrm>
            <a:off x="6172200" y="1965960"/>
            <a:ext cx="548640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34"/>
          <p:cNvSpPr/>
          <p:nvPr/>
        </p:nvSpPr>
        <p:spPr>
          <a:xfrm>
            <a:off x="6428232" y="213055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4"/>
          <p:cNvSpPr/>
          <p:nvPr/>
        </p:nvSpPr>
        <p:spPr>
          <a:xfrm>
            <a:off x="6428232" y="2569464"/>
            <a:ext cx="49743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Combina os caracteres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com multiplicações.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4"/>
          <p:cNvSpPr/>
          <p:nvPr/>
        </p:nvSpPr>
        <p:spPr>
          <a:xfrm>
            <a:off x="502920" y="3611880"/>
            <a:ext cx="548640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4"/>
          <p:cNvSpPr/>
          <p:nvPr/>
        </p:nvSpPr>
        <p:spPr>
          <a:xfrm>
            <a:off x="758952" y="377647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double, float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4"/>
          <p:cNvSpPr/>
          <p:nvPr/>
        </p:nvSpPr>
        <p:spPr>
          <a:xfrm>
            <a:off x="758952" y="4215384"/>
            <a:ext cx="49743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 a representação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binária do número.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4"/>
          <p:cNvSpPr/>
          <p:nvPr/>
        </p:nvSpPr>
        <p:spPr>
          <a:xfrm>
            <a:off x="6172200" y="3611880"/>
            <a:ext cx="5486400" cy="1463040"/>
          </a:xfrm>
          <a:prstGeom prst="roundRect">
            <a:avLst>
              <a:gd fmla="val 3750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4"/>
          <p:cNvSpPr/>
          <p:nvPr/>
        </p:nvSpPr>
        <p:spPr>
          <a:xfrm>
            <a:off x="6428232" y="377647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std::hash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4"/>
          <p:cNvSpPr/>
          <p:nvPr/>
        </p:nvSpPr>
        <p:spPr>
          <a:xfrm>
            <a:off x="6428232" y="4215384"/>
            <a:ext cx="4974336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É o que o unordered_map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chama internamente.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4"/>
          <p:cNvSpPr/>
          <p:nvPr/>
        </p:nvSpPr>
        <p:spPr>
          <a:xfrm>
            <a:off x="502920" y="5257800"/>
            <a:ext cx="11155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Toda vez que você escreve unordered_map&lt;string,int&gt;, é essa função que decide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onde cada elemento vai ficar.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5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5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5  |  AVANÇADO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Usando struct como chave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5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502920" y="1325880"/>
            <a:ext cx="11155680" cy="1371600"/>
          </a:xfrm>
          <a:prstGeom prst="roundRect">
            <a:avLst>
              <a:gd fmla="val 3333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5"/>
          <p:cNvSpPr/>
          <p:nvPr/>
        </p:nvSpPr>
        <p:spPr>
          <a:xfrm>
            <a:off x="731520" y="1472184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Aluno {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nome;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matricula; };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unordered_map&lt;Aluno, double&gt; notas;   </a:t>
            </a: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erro: nao existe hash para Aluno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502920" y="2880360"/>
            <a:ext cx="11155680" cy="2011680"/>
          </a:xfrm>
          <a:prstGeom prst="roundRect">
            <a:avLst>
              <a:gd fmla="val 2273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5"/>
          <p:cNvSpPr/>
          <p:nvPr/>
        </p:nvSpPr>
        <p:spPr>
          <a:xfrm>
            <a:off x="731520" y="3026664"/>
            <a:ext cx="10698480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HashAluno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size_t operator()(const Aluno&amp; a) const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hash</a:t>
            </a:r>
            <a:r>
              <a:rPr b="0" i="0" lang="en-US" sz="15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&lt;string&gt;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()(a.nome) ^ hash</a:t>
            </a:r>
            <a:r>
              <a:rPr b="0" i="0" lang="en-US" sz="15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&lt;int&gt;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()(a.matricula);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unordered_map&lt;Aluno, double, HashAluno&gt; notas;   </a:t>
            </a: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agora funciona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5"/>
          <p:cNvSpPr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Para um tipo criado por você, é preciso dizer ao C++ como calcular o hash dele.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6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6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5  |  AVANÇADO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Fator de carga e rehashing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502920" y="1325880"/>
            <a:ext cx="11155680" cy="1188720"/>
          </a:xfrm>
          <a:prstGeom prst="roundRect">
            <a:avLst>
              <a:gd fmla="val 4615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36"/>
          <p:cNvSpPr/>
          <p:nvPr/>
        </p:nvSpPr>
        <p:spPr>
          <a:xfrm>
            <a:off x="758952" y="1490472"/>
            <a:ext cx="10643616" cy="85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fator de carga  =  elementos inseridos  ÷  tamanho atual da tabela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502920" y="2743200"/>
            <a:ext cx="5486400" cy="2011680"/>
          </a:xfrm>
          <a:prstGeom prst="roundRect">
            <a:avLst>
              <a:gd fmla="val 272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36"/>
          <p:cNvSpPr/>
          <p:nvPr/>
        </p:nvSpPr>
        <p:spPr>
          <a:xfrm>
            <a:off x="758952" y="290779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Rehashing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758952" y="3346704"/>
            <a:ext cx="4974336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Quando o fator passa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1.0, a tabela dobra 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recalcula todas 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posições. Custo O(n).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6172200" y="2743200"/>
            <a:ext cx="5486400" cy="2011680"/>
          </a:xfrm>
          <a:prstGeom prst="roundRect">
            <a:avLst>
              <a:gd fmla="val 2727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6"/>
          <p:cNvSpPr/>
          <p:nvPr/>
        </p:nvSpPr>
        <p:spPr>
          <a:xfrm>
            <a:off x="6428232" y="2907792"/>
            <a:ext cx="497433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reserve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6"/>
          <p:cNvSpPr/>
          <p:nvPr/>
        </p:nvSpPr>
        <p:spPr>
          <a:xfrm>
            <a:off x="6428232" y="3346704"/>
            <a:ext cx="4974336" cy="1243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Reserva espaço antes 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inserir e evita vários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rehashings no meio 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caminho.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6"/>
          <p:cNvSpPr/>
          <p:nvPr/>
        </p:nvSpPr>
        <p:spPr>
          <a:xfrm>
            <a:off x="502920" y="4983480"/>
            <a:ext cx="11155680" cy="1005840"/>
          </a:xfrm>
          <a:prstGeom prst="roundRect">
            <a:avLst>
              <a:gd fmla="val 4545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36"/>
          <p:cNvSpPr/>
          <p:nvPr/>
        </p:nvSpPr>
        <p:spPr>
          <a:xfrm>
            <a:off x="731520" y="5129784"/>
            <a:ext cx="10698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tabela.reserve(</a:t>
            </a:r>
            <a:r>
              <a:rPr b="0" i="0" lang="en-US" sz="1500" u="none" cap="none" strike="noStrike">
                <a:solidFill>
                  <a:srgbClr val="C98FE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        tabela.load_factor();      tabela.bucket_count();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7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7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PARTE 5  |  AVANÇADO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Iteradores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502920" y="13258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 iterador aponta para um elemento dentro do contêiner.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7"/>
          <p:cNvSpPr/>
          <p:nvPr/>
        </p:nvSpPr>
        <p:spPr>
          <a:xfrm>
            <a:off x="502920" y="1920240"/>
            <a:ext cx="6675120" cy="2103120"/>
          </a:xfrm>
          <a:prstGeom prst="roundRect">
            <a:avLst>
              <a:gd fmla="val 2174" name="adj"/>
            </a:avLst>
          </a:prstGeom>
          <a:solidFill>
            <a:srgbClr val="0C0D12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7"/>
          <p:cNvSpPr/>
          <p:nvPr/>
        </p:nvSpPr>
        <p:spPr>
          <a:xfrm>
            <a:off x="731520" y="2066544"/>
            <a:ext cx="6217920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auto it = tabela.find(</a:t>
            </a:r>
            <a:r>
              <a:rPr b="0" i="0" lang="en-US" sz="1500" u="none" cap="none" strike="noStrike">
                <a:solidFill>
                  <a:srgbClr val="D8B168"/>
                </a:solidFill>
                <a:latin typeface="Consolas"/>
                <a:ea typeface="Consolas"/>
                <a:cs typeface="Consolas"/>
                <a:sym typeface="Consolas"/>
              </a:rPr>
              <a:t>"Brasil"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(it != tabela.end()) {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it-&gt;first;   </a:t>
            </a: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a chave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-US" sz="15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 &lt;&lt; it-&gt;second;  </a:t>
            </a:r>
            <a:r>
              <a:rPr b="0" i="0" lang="en-US" sz="1500" u="none" cap="none" strike="noStrike">
                <a:solidFill>
                  <a:srgbClr val="6F7680"/>
                </a:solidFill>
                <a:latin typeface="Consolas"/>
                <a:ea typeface="Consolas"/>
                <a:cs typeface="Consolas"/>
                <a:sym typeface="Consolas"/>
              </a:rPr>
              <a:t>// o valor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CE0E6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DCE0E6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7"/>
          <p:cNvSpPr/>
          <p:nvPr/>
        </p:nvSpPr>
        <p:spPr>
          <a:xfrm>
            <a:off x="7452360" y="1920240"/>
            <a:ext cx="4206240" cy="2468880"/>
          </a:xfrm>
          <a:prstGeom prst="roundRect">
            <a:avLst>
              <a:gd fmla="val 2222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7"/>
          <p:cNvSpPr/>
          <p:nvPr/>
        </p:nvSpPr>
        <p:spPr>
          <a:xfrm>
            <a:off x="7708392" y="2084832"/>
            <a:ext cx="369417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O erro mais comum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7"/>
          <p:cNvSpPr/>
          <p:nvPr/>
        </p:nvSpPr>
        <p:spPr>
          <a:xfrm>
            <a:off x="7708392" y="2523744"/>
            <a:ext cx="3694176" cy="170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Usar o iterador sem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testar se é diferente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de end().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end() = não encontrou.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7"/>
          <p:cNvSpPr/>
          <p:nvPr/>
        </p:nvSpPr>
        <p:spPr>
          <a:xfrm>
            <a:off x="502920" y="4572000"/>
            <a:ext cx="11155680" cy="1554480"/>
          </a:xfrm>
          <a:prstGeom prst="roundRect">
            <a:avLst>
              <a:gd fmla="val 3529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37"/>
          <p:cNvSpPr/>
          <p:nvPr/>
        </p:nvSpPr>
        <p:spPr>
          <a:xfrm>
            <a:off x="758952" y="473659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Por que find e não colchetes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758952" y="5175504"/>
            <a:ext cx="1064361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operador [] cria a chave quando ela não existe, alterando a tabela.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find apenas consulta, sem modificar nada.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38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8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PRÁTICA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lista de exercícios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São 10 exercícios no repositório, para entrega por pull request.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1" name="Google Shape;791;p38"/>
          <p:cNvGraphicFramePr/>
          <p:nvPr/>
        </p:nvGraphicFramePr>
        <p:xfrm>
          <a:off x="50292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{34279255-42EB-42B6-9D83-893E06B66457}</a:tableStyleId>
              </a:tblPr>
              <a:tblGrid>
                <a:gridCol w="1828800"/>
                <a:gridCol w="9326875"/>
              </a:tblGrid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2C3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a 3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Funções hash do livro: peso posicional, primos acumulados e std::hash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2C3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 a 9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 seis bibliotecas: unordered_map, unordered_set, os multi, map e set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91A2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500"/>
                        <a:buFont typeface="Consolas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02C39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AED"/>
                        </a:buClr>
                        <a:buSzPts val="1500"/>
                        <a:buFont typeface="Consolas"/>
                        <a:buNone/>
                      </a:pPr>
                      <a:r>
                        <a:rPr lang="en-US" sz="1500" u="none" cap="none" strike="noStrike">
                          <a:solidFill>
                            <a:srgbClr val="E8EAE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Exercício integrador, usando várias bibliotecas no mesmo programa</a:t>
                      </a:r>
                      <a:endParaRPr sz="15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76200" marB="76200" marR="101600" marL="101600" anchor="ctr">
                    <a:lnL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A2B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1F26"/>
                    </a:solidFill>
                  </a:tcPr>
                </a:tc>
              </a:tr>
            </a:tbl>
          </a:graphicData>
        </a:graphic>
      </p:graphicFrame>
      <p:sp>
        <p:nvSpPr>
          <p:cNvPr id="792" name="Google Shape;792;p38"/>
          <p:cNvSpPr/>
          <p:nvPr/>
        </p:nvSpPr>
        <p:spPr>
          <a:xfrm>
            <a:off x="502920" y="4480560"/>
            <a:ext cx="11155680" cy="1554480"/>
          </a:xfrm>
          <a:prstGeom prst="roundRect">
            <a:avLst>
              <a:gd fmla="val 3529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8"/>
          <p:cNvSpPr/>
          <p:nvPr/>
        </p:nvSpPr>
        <p:spPr>
          <a:xfrm>
            <a:off x="758952" y="4645152"/>
            <a:ext cx="1064361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Entrega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8"/>
          <p:cNvSpPr/>
          <p:nvPr/>
        </p:nvSpPr>
        <p:spPr>
          <a:xfrm>
            <a:off x="758952" y="5084064"/>
            <a:ext cx="10643616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No repositório de entregas, dentro da sua pasta, em aula-09-tabelas-hash.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passo a passo está no GUIA_PULL_REQUEST.md.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9"/>
          <p:cNvSpPr/>
          <p:nvPr/>
        </p:nvSpPr>
        <p:spPr>
          <a:xfrm>
            <a:off x="0" y="0"/>
            <a:ext cx="12191695" cy="5715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39"/>
          <p:cNvSpPr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FECHAMENTO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502920" y="621792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O que fica desta aula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9"/>
          <p:cNvSpPr/>
          <p:nvPr/>
        </p:nvSpPr>
        <p:spPr>
          <a:xfrm>
            <a:off x="502920" y="1133856"/>
            <a:ext cx="11155680" cy="12802"/>
          </a:xfrm>
          <a:prstGeom prst="rect">
            <a:avLst/>
          </a:prstGeom>
          <a:solidFill>
            <a:srgbClr val="2A2B35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39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A1A9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BA1A9"/>
                </a:solidFill>
                <a:latin typeface="Consolas"/>
                <a:ea typeface="Consolas"/>
                <a:cs typeface="Consolas"/>
                <a:sym typeface="Consolas"/>
              </a:rPr>
              <a:t>38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502920" y="1371600"/>
            <a:ext cx="11155680" cy="4480560"/>
          </a:xfrm>
          <a:prstGeom prst="roundRect">
            <a:avLst>
              <a:gd fmla="val 1224" name="adj"/>
            </a:avLst>
          </a:prstGeom>
          <a:solidFill>
            <a:srgbClr val="1E1F26"/>
          </a:solidFill>
          <a:ln cap="flat" cmpd="sng" w="12700">
            <a:solidFill>
              <a:srgbClr val="2A2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9"/>
          <p:cNvSpPr/>
          <p:nvPr/>
        </p:nvSpPr>
        <p:spPr>
          <a:xfrm>
            <a:off x="758952" y="1536192"/>
            <a:ext cx="10643616" cy="4151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função hash transforma qualquer entrada em um índice de tamanho fixo.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 tabela hash calcula a posição em vez de percorrer, e por isso chega a O(1)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na média. No pior caso, com muitas colisões, degrada para O(n).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Colisões são inevitáveis, porque as entradas possíveis são infinitas e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tabela é finita. Resolvem-se por encadeamento ou endereçamento aberto.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Uma função hash não se avalia sozinha: ela depende do conjunto que recebe.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As bibliotecas do C++ já trazem tudo isso pronto. Agora vocês sabem o que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rgbClr val="E8EAED"/>
                </a:solidFill>
                <a:latin typeface="Consolas"/>
                <a:ea typeface="Consolas"/>
                <a:cs typeface="Consolas"/>
                <a:sym typeface="Consolas"/>
              </a:rPr>
              <a:t>acontece por dentro delas.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2026-09-11T18:38:04Z</dcterms:created>
  <dc:creator>Geterson Policarpo Nunes</dc:creator>
</cp:coreProperties>
</file>